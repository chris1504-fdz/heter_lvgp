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0" r:id="rId3"/>
  </p:sldMasterIdLst>
  <p:notesMasterIdLst>
    <p:notesMasterId r:id="rId20"/>
  </p:notesMasterIdLst>
  <p:sldIdLst>
    <p:sldId id="442" r:id="rId4"/>
    <p:sldId id="467" r:id="rId5"/>
    <p:sldId id="468" r:id="rId6"/>
    <p:sldId id="471" r:id="rId7"/>
    <p:sldId id="472" r:id="rId8"/>
    <p:sldId id="473" r:id="rId9"/>
    <p:sldId id="475" r:id="rId10"/>
    <p:sldId id="476" r:id="rId11"/>
    <p:sldId id="478" r:id="rId12"/>
    <p:sldId id="479" r:id="rId13"/>
    <p:sldId id="480" r:id="rId14"/>
    <p:sldId id="481" r:id="rId15"/>
    <p:sldId id="482" r:id="rId16"/>
    <p:sldId id="474" r:id="rId17"/>
    <p:sldId id="466" r:id="rId18"/>
    <p:sldId id="47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F3C3EA-C1B1-4E3F-AA72-F8255A3436E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A2C4F5-E98D-445B-88EC-59BD6E9970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896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35C58-0179-8A83-510B-AF729828B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8B58EE-560D-39A2-82C2-8E549E12B1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2B13E0-A2DA-F8DE-C45F-8D12526201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/>
              <a:t>The first slide should give one diagram, what is the problem</a:t>
            </a:r>
          </a:p>
          <a:p>
            <a:pPr marL="171450" indent="-171450">
              <a:buFontTx/>
              <a:buChar char="-"/>
            </a:pPr>
            <a:r>
              <a:rPr lang="en-US"/>
              <a:t>The first slide should give more context, more clear, simple, and remind her what is the problem</a:t>
            </a:r>
          </a:p>
          <a:p>
            <a:pPr marL="171450" indent="-171450">
              <a:buFontTx/>
              <a:buChar char="-"/>
            </a:pPr>
            <a:r>
              <a:rPr lang="en-US"/>
              <a:t>Always show what is the overall background</a:t>
            </a:r>
          </a:p>
          <a:p>
            <a:pPr marL="171450" indent="-171450">
              <a:buFontTx/>
              <a:buChar char="-"/>
            </a:pPr>
            <a:r>
              <a:rPr lang="en-US"/>
              <a:t>Do not show a lot of table or data on the first slide</a:t>
            </a:r>
          </a:p>
          <a:p>
            <a:pPr marL="171450" indent="-171450">
              <a:buFontTx/>
              <a:buChar char="-"/>
            </a:pPr>
            <a:r>
              <a:rPr lang="en-US"/>
              <a:t>The firs slide is important because if they are lost, they </a:t>
            </a:r>
          </a:p>
          <a:p>
            <a:pPr marL="171450" indent="-171450">
              <a:buFontTx/>
              <a:buChar char="-"/>
            </a:pPr>
            <a:r>
              <a:rPr lang="en-US"/>
              <a:t>Include the hall mobility </a:t>
            </a:r>
          </a:p>
          <a:p>
            <a:pPr marL="171450" indent="-171450">
              <a:buFontTx/>
              <a:buChar char="-"/>
            </a:pPr>
            <a:endParaRPr lang="en-US"/>
          </a:p>
          <a:p>
            <a:pPr marL="171450" indent="-171450">
              <a:buFontTx/>
              <a:buChar char="-"/>
            </a:pPr>
            <a:r>
              <a:rPr lang="en-US"/>
              <a:t>UIC</a:t>
            </a:r>
          </a:p>
          <a:p>
            <a:pPr marL="171450" indent="-171450">
              <a:buFontTx/>
              <a:buChar char="-"/>
            </a:pPr>
            <a:r>
              <a:rPr lang="en-US"/>
              <a:t>For </a:t>
            </a:r>
            <a:r>
              <a:rPr lang="en-US" err="1"/>
              <a:t>notremade</a:t>
            </a:r>
            <a:r>
              <a:rPr lang="en-US"/>
              <a:t> I can show the replicate data, (the 3 slides)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C1E52-75DF-236F-A24B-CDDADB05B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0E78584-1AD2-480E-88F8-502E9509145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54852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75173-E57B-DBC8-72EC-046673B63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996088-5BDB-5ACB-8C43-2D123FA6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CA6F31-4D2F-D497-8530-5C001E93D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/>
              <a:t>The first slide should give one diagram, what is the problem</a:t>
            </a:r>
          </a:p>
          <a:p>
            <a:pPr marL="171450" indent="-171450">
              <a:buFontTx/>
              <a:buChar char="-"/>
            </a:pPr>
            <a:r>
              <a:rPr lang="en-US"/>
              <a:t>The first slide should give more context, more clear, simple, and remind her what is the problem</a:t>
            </a:r>
          </a:p>
          <a:p>
            <a:pPr marL="171450" indent="-171450">
              <a:buFontTx/>
              <a:buChar char="-"/>
            </a:pPr>
            <a:r>
              <a:rPr lang="en-US"/>
              <a:t>Always show what is the overall background</a:t>
            </a:r>
          </a:p>
          <a:p>
            <a:pPr marL="171450" indent="-171450">
              <a:buFontTx/>
              <a:buChar char="-"/>
            </a:pPr>
            <a:r>
              <a:rPr lang="en-US"/>
              <a:t>Do not show a lot of table or data on the first slide</a:t>
            </a:r>
          </a:p>
          <a:p>
            <a:pPr marL="171450" indent="-171450">
              <a:buFontTx/>
              <a:buChar char="-"/>
            </a:pPr>
            <a:r>
              <a:rPr lang="en-US"/>
              <a:t>The firs slide is important because if they are lost, they </a:t>
            </a:r>
          </a:p>
          <a:p>
            <a:pPr marL="171450" indent="-171450">
              <a:buFontTx/>
              <a:buChar char="-"/>
            </a:pPr>
            <a:r>
              <a:rPr lang="en-US"/>
              <a:t>Include the hall mobility </a:t>
            </a:r>
          </a:p>
          <a:p>
            <a:pPr marL="171450" indent="-171450">
              <a:buFontTx/>
              <a:buChar char="-"/>
            </a:pPr>
            <a:endParaRPr lang="en-US"/>
          </a:p>
          <a:p>
            <a:pPr marL="171450" indent="-171450">
              <a:buFontTx/>
              <a:buChar char="-"/>
            </a:pPr>
            <a:r>
              <a:rPr lang="en-US"/>
              <a:t>UIC</a:t>
            </a:r>
          </a:p>
          <a:p>
            <a:pPr marL="171450" indent="-171450">
              <a:buFontTx/>
              <a:buChar char="-"/>
            </a:pPr>
            <a:r>
              <a:rPr lang="en-US"/>
              <a:t>Both can be the baseline</a:t>
            </a:r>
          </a:p>
          <a:p>
            <a:pPr marL="171450" indent="-171450">
              <a:buFontTx/>
              <a:buChar char="-"/>
            </a:pPr>
            <a:r>
              <a:rPr lang="en-US"/>
              <a:t>Came up with a </a:t>
            </a:r>
            <a:r>
              <a:rPr lang="en-US" err="1"/>
              <a:t>mathemical</a:t>
            </a:r>
            <a:r>
              <a:rPr lang="en-US"/>
              <a:t> deeply</a:t>
            </a:r>
          </a:p>
          <a:p>
            <a:pPr marL="171450" indent="-171450">
              <a:buFontTx/>
              <a:buChar char="-"/>
            </a:pPr>
            <a:r>
              <a:rPr lang="en-US"/>
              <a:t>Hide the second experiment as is not the standard case we are following  </a:t>
            </a:r>
          </a:p>
          <a:p>
            <a:pPr marL="171450" indent="-171450">
              <a:buFontTx/>
              <a:buChar char="-"/>
            </a:pPr>
            <a:r>
              <a:rPr lang="en-US"/>
              <a:t>We should use replicate data set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3CB52-1DBE-7368-A764-8AFE275CDB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0E78584-1AD2-480E-88F8-502E9509145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39566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912B7-0EED-4BD7-6F0E-79DBA04E6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299EB1-A3AD-A3B5-146E-5B683EB6FD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A943E9-86BA-DFDA-3039-EFD8B493D9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/>
              <a:t>The first slide should give one diagram, what is the problem</a:t>
            </a:r>
          </a:p>
          <a:p>
            <a:pPr marL="171450" indent="-171450">
              <a:buFontTx/>
              <a:buChar char="-"/>
            </a:pPr>
            <a:r>
              <a:rPr lang="en-US"/>
              <a:t>The first slide should give more context, more clear, simple, and remind her what is the problem</a:t>
            </a:r>
          </a:p>
          <a:p>
            <a:pPr marL="171450" indent="-171450">
              <a:buFontTx/>
              <a:buChar char="-"/>
            </a:pPr>
            <a:r>
              <a:rPr lang="en-US"/>
              <a:t>Always show what is the overall background</a:t>
            </a:r>
          </a:p>
          <a:p>
            <a:pPr marL="171450" indent="-171450">
              <a:buFontTx/>
              <a:buChar char="-"/>
            </a:pPr>
            <a:r>
              <a:rPr lang="en-US"/>
              <a:t>Do not show a lot of table or data on the first slide</a:t>
            </a:r>
          </a:p>
          <a:p>
            <a:pPr marL="171450" indent="-171450">
              <a:buFontTx/>
              <a:buChar char="-"/>
            </a:pPr>
            <a:r>
              <a:rPr lang="en-US"/>
              <a:t>The firs slide is important because if they are lost, they </a:t>
            </a:r>
          </a:p>
          <a:p>
            <a:pPr marL="171450" indent="-171450">
              <a:buFontTx/>
              <a:buChar char="-"/>
            </a:pPr>
            <a:r>
              <a:rPr lang="en-US"/>
              <a:t>Include the hall mobility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31D5D-539C-680A-1261-44160C28FF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0E78584-1AD2-480E-88F8-502E9509145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8547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40BC2-A00B-BA93-3AFB-4A71AB382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2921EB-B525-7591-A668-ACFB3622AD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F4472-F9E8-DEED-35D4-3B7E08354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/>
              <a:t>The first slide should give one diagram, what is the problem</a:t>
            </a:r>
          </a:p>
          <a:p>
            <a:pPr marL="171450" indent="-171450">
              <a:buFontTx/>
              <a:buChar char="-"/>
            </a:pPr>
            <a:r>
              <a:rPr lang="en-US"/>
              <a:t>The first slide should give more context, more clear, simple, and remind her what is the problem</a:t>
            </a:r>
          </a:p>
          <a:p>
            <a:pPr marL="171450" indent="-171450">
              <a:buFontTx/>
              <a:buChar char="-"/>
            </a:pPr>
            <a:r>
              <a:rPr lang="en-US"/>
              <a:t>Always show what is the overall background</a:t>
            </a:r>
          </a:p>
          <a:p>
            <a:pPr marL="171450" indent="-171450">
              <a:buFontTx/>
              <a:buChar char="-"/>
            </a:pPr>
            <a:r>
              <a:rPr lang="en-US"/>
              <a:t>Do not show a lot of table or data on the first slide</a:t>
            </a:r>
          </a:p>
          <a:p>
            <a:pPr marL="171450" indent="-171450">
              <a:buFontTx/>
              <a:buChar char="-"/>
            </a:pPr>
            <a:r>
              <a:rPr lang="en-US"/>
              <a:t>The firs slide is important because if they are lost, they </a:t>
            </a:r>
          </a:p>
          <a:p>
            <a:pPr marL="171450" indent="-171450">
              <a:buFontTx/>
              <a:buChar char="-"/>
            </a:pPr>
            <a:r>
              <a:rPr lang="en-US"/>
              <a:t>Include the hall mobility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D7735-0F73-AB6B-BBF0-DC0D026611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0E78584-1AD2-480E-88F8-502E9509145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548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4" Type="http://schemas.microsoft.com/office/2007/relationships/hdphoto" Target="../media/hdphoto1.wdp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8B13B-BB80-2378-0CD2-192CC87043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B11FED-93A3-C908-A60A-E18AA65D38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272A6-FE20-D4DC-2F0B-CA0DFCA83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876A2-F0B1-4785-BCCE-A398A43870B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0E9EF-DD1E-E530-A35A-9161C4AC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F2C95F-CF15-F529-D017-74A9C05A3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EE059-EB5A-4A09-8089-DEA560F01E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818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94C4F-9996-6238-4C07-025D485F0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70DC6-1259-1B11-FE91-659375E4F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5F110-E34B-B427-7B3F-2A8E89EDA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876A2-F0B1-4785-BCCE-A398A43870B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D0FBD-520C-D8EF-21BB-23BA89E89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A6C5A3-CBD2-2EB6-2412-911C853A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EE059-EB5A-4A09-8089-DEA560F01E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679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16AAF-0907-B4A2-3C94-CFEC6E75F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11B3A9-618D-D8D1-4AA3-7167D79D6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B60B-103D-5568-6BA4-55856FE45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876A2-F0B1-4785-BCCE-A398A43870B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76C5B-BD3B-1D41-F14C-CC3E10B43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431B6-692B-3A9E-96D7-7ADCAA146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EE059-EB5A-4A09-8089-DEA560F01E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485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9099A-115A-0D99-6464-C4133D59B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79BBF-01C8-75D1-B7C9-8713DAAE8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58570-A335-B1D6-3C8E-E4C943C372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80F817-62BF-2698-BCC4-73F5384AC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876A2-F0B1-4785-BCCE-A398A43870B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5F606E-9457-D72A-0C98-FEAEAB5BF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A3DF24-8340-0F7F-9B50-6A5CC6DCC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EE059-EB5A-4A09-8089-DEA560F01E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659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4D80D-2813-D021-AEFD-C19FC710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942546-4541-BCF2-DD7E-CF397BE1E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CEFEA-B509-B82E-1224-B8BF709C6F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D022E6-0B71-C24C-EEE5-37A4845AC1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FE3DCA-0AC8-4F33-DE52-C4242CAB90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2ACCFA-E177-CB9F-970E-1AA5797A1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876A2-F0B1-4785-BCCE-A398A43870B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072E68-2C7D-25B3-F1C0-A1D38ADD1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D1CCD1-E7F4-2154-3CAB-C9F961AFC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EE059-EB5A-4A09-8089-DEA560F01E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443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37380-F11A-AAC6-5C01-79892DBD0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ED00E4-40CA-049C-462C-EA7D1928A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876A2-F0B1-4785-BCCE-A398A43870B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A6B043-E953-CB58-247A-FF8904AD3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D4A0F2-0C80-08CD-6395-A5AB02DE8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EE059-EB5A-4A09-8089-DEA560F01E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475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4DE731-385B-6DB4-B8A8-EA068C61A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876A2-F0B1-4785-BCCE-A398A43870B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D60458-CFD5-940E-21F1-E50E09C37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B4DA5C-FD5C-CB1A-DA42-EA44615B7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EE059-EB5A-4A09-8089-DEA560F01E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447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ECC85-5DA0-13BF-1736-563434B3D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A0B4F-60B5-BF4B-56B6-3F4B98633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A43D49-37B4-6EE5-3918-AA12EAFB62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5A5BFC-6C27-FA31-8410-0A3EB1A09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876A2-F0B1-4785-BCCE-A398A43870B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29E02F-503B-F1BF-911F-C8DFB7C36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F64A5E-91A1-F4CD-C675-EFB287ED6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EE059-EB5A-4A09-8089-DEA560F01E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614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B56ED-C273-70B8-A2C7-78E8774A1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05B7C4-38FC-418C-9A77-894ED0BA10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1A145A-6AEC-B70B-1386-075DF3A39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E5BA61-FC2E-51DB-3525-D430A1628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876A2-F0B1-4785-BCCE-A398A43870B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328C70-BAD2-9AF6-9E61-C5BBDEF96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3E732-B404-7E5A-35A1-203505B44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EE059-EB5A-4A09-8089-DEA560F01E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20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2718D-63CF-C7A1-B700-9A260462C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CC07-5E16-2BE2-A294-6FFEEE29AE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D840A7-290C-D9C7-0DAC-6BFAC474F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876A2-F0B1-4785-BCCE-A398A43870B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6798A-2A01-4897-5D7B-B99BE4B0E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F64A1-D399-C2ED-C31E-BC4119F4E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EE059-EB5A-4A09-8089-DEA560F01E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902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8C41B1-6DBB-57C6-04C2-013E70B367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26F2DA-930B-04F6-A46F-FF3AF0BE8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03B28D-6409-8CCA-D85B-5A54FA71C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876A2-F0B1-4785-BCCE-A398A43870B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C290E-666E-FCC1-8F3E-FB9003809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4C218-CF45-8BC9-A920-79A1F3B80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EE059-EB5A-4A09-8089-DEA560F01E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9060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6">
            <a:extLst>
              <a:ext uri="{FF2B5EF4-FFF2-40B4-BE49-F238E27FC236}">
                <a16:creationId xmlns:a16="http://schemas.microsoft.com/office/drawing/2014/main" id="{597971D9-8E8B-4373-A484-0FDF164EB32D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0" y="0"/>
            <a:ext cx="12192000" cy="5486399"/>
          </a:xfrm>
          <a:prstGeom prst="rect">
            <a:avLst/>
          </a:prstGeom>
          <a:gradFill>
            <a:gsLst>
              <a:gs pos="60000">
                <a:schemeClr val="tx2"/>
              </a:gs>
              <a:gs pos="20000">
                <a:srgbClr val="652C90"/>
              </a:gs>
              <a:gs pos="100000">
                <a:srgbClr val="326196"/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Roboto" panose="02000000000000000000" pitchFamily="2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9pPr>
          </a:lstStyle>
          <a:p>
            <a:pPr defTabSz="914400" eaLnBrk="1" hangingPunct="1"/>
            <a:endParaRPr lang="zh-CN" altLang="en-US">
              <a:solidFill>
                <a:srgbClr val="2B166E"/>
              </a:solidFill>
              <a:latin typeface="Verdana" panose="020B0604030504040204" pitchFamily="34" charset="0"/>
              <a:ea typeface="DengXian" panose="03000509000000000000" pitchFamily="65" charset="-122"/>
            </a:endParaRPr>
          </a:p>
        </p:txBody>
      </p:sp>
      <p:pic>
        <p:nvPicPr>
          <p:cNvPr id="10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675" y="5999163"/>
            <a:ext cx="280670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 bwMode="gray">
          <a:xfrm>
            <a:off x="642851" y="918836"/>
            <a:ext cx="10906298" cy="2261765"/>
          </a:xfrm>
        </p:spPr>
        <p:txBody>
          <a:bodyPr/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/>
              <a:t>Click to edit Master title style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 bwMode="gray">
          <a:xfrm>
            <a:off x="2133600" y="3693365"/>
            <a:ext cx="7924800" cy="787806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/>
              <a:t>Click to edit Master subtitle style</a:t>
            </a:r>
          </a:p>
        </p:txBody>
      </p:sp>
      <p:sp>
        <p:nvSpPr>
          <p:cNvPr id="12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9318625" y="6477000"/>
            <a:ext cx="2844800" cy="381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2B166E"/>
                </a:solidFill>
                <a:ea typeface="DengXian" panose="03000509000000000000" pitchFamily="65" charset="-122"/>
              </a:defRPr>
            </a:lvl1pPr>
          </a:lstStyle>
          <a:p>
            <a:endParaRPr lang="en-US" altLang="zh-CN">
              <a:solidFill>
                <a:srgbClr val="2B166E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21BFCA-E25E-22CF-BBDD-1CB3342B275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0800000" flipH="1" flipV="1">
            <a:off x="6915423" y="5921911"/>
            <a:ext cx="1857642" cy="65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0168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200"/>
            </a:lvl3pPr>
          </a:lstStyle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fld id="{E294AF64-FC92-4E4E-9E42-CF08351F977D}" type="slidenum">
              <a:rPr lang="en-US" altLang="zh-CN" smtClean="0">
                <a:solidFill>
                  <a:srgbClr val="2B166E"/>
                </a:solidFill>
              </a:rPr>
              <a:pPr defTabSz="914400"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r>
              <a:rPr lang="en-US" altLang="zh-CN">
                <a:solidFill>
                  <a:srgbClr val="2B166E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1499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3695701"/>
            <a:ext cx="10363200" cy="2073275"/>
          </a:xfrm>
        </p:spPr>
        <p:txBody>
          <a:bodyPr anchor="t"/>
          <a:lstStyle>
            <a:lvl1pPr algn="ctr">
              <a:defRPr sz="2400" b="0" cap="none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270235"/>
            <a:ext cx="10363200" cy="1425466"/>
          </a:xfrm>
        </p:spPr>
        <p:txBody>
          <a:bodyPr anchor="b"/>
          <a:lstStyle>
            <a:lvl1pPr marL="0" indent="0" algn="ctr">
              <a:buNone/>
              <a:defRPr sz="3200" b="1">
                <a:latin typeface="+mj-lt"/>
                <a:ea typeface="Verdana" panose="020B0604030504040204" pitchFamily="34" charset="0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altLang="zh-CN"/>
              <a:t>Edit Master text styles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914224-4A50-4EAD-915A-1B572A9807D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94AF64-FC92-4E4E-9E42-CF08351F977D}" type="slidenum">
              <a:rPr lang="en-US" altLang="zh-CN" smtClean="0"/>
              <a:pPr/>
              <a:t>‹#›</a:t>
            </a:fld>
            <a:r>
              <a:rPr lang="en-US" altLang="zh-CN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EDA3FB-722F-C7E2-BF40-D965202ABF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" y="6381160"/>
            <a:ext cx="1346727" cy="47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2037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977030"/>
            <a:ext cx="5384800" cy="5347570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77030"/>
            <a:ext cx="5384800" cy="5347569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fld id="{E294AF64-FC92-4E4E-9E42-CF08351F977D}" type="slidenum">
              <a:rPr lang="en-US" altLang="zh-CN" smtClean="0">
                <a:solidFill>
                  <a:srgbClr val="2B166E"/>
                </a:solidFill>
              </a:rPr>
              <a:pPr defTabSz="914400"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r>
              <a:rPr lang="en-US" altLang="zh-CN">
                <a:solidFill>
                  <a:srgbClr val="2B166E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45054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fld id="{E294AF64-FC92-4E4E-9E42-CF08351F977D}" type="slidenum">
              <a:rPr lang="en-US" altLang="zh-CN" smtClean="0">
                <a:solidFill>
                  <a:srgbClr val="2B166E"/>
                </a:solidFill>
              </a:rPr>
              <a:pPr defTabSz="914400"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r>
              <a:rPr lang="en-US" altLang="zh-CN">
                <a:solidFill>
                  <a:srgbClr val="2B166E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668473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fld id="{E294AF64-FC92-4E4E-9E42-CF08351F977D}" type="slidenum">
              <a:rPr lang="en-US" altLang="zh-CN" smtClean="0">
                <a:solidFill>
                  <a:srgbClr val="2B166E"/>
                </a:solidFill>
              </a:rPr>
              <a:pPr defTabSz="914400"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r>
              <a:rPr lang="en-US" altLang="zh-CN">
                <a:solidFill>
                  <a:srgbClr val="2B166E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664134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no 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94AF64-FC92-4E4E-9E42-CF08351F977D}" type="slidenum">
              <a:rPr lang="en-US" altLang="zh-CN" smtClean="0"/>
              <a:pPr/>
              <a:t>‹#›</a:t>
            </a:fld>
            <a:r>
              <a:rPr lang="en-US" altLang="zh-CN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FC4CCA-3F42-1F17-76EE-A1B3F176A4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" y="6381160"/>
            <a:ext cx="1346727" cy="47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9381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70F0ED6F-4B8F-423F-B8A7-8E4EA4CB2A99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white">
          <a:xfrm>
            <a:off x="126524" y="116633"/>
            <a:ext cx="8846029" cy="563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title style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6DBD31C-5976-4BFC-BF15-2F8F28B1C20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59772" y="6534799"/>
            <a:ext cx="820469" cy="24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effectLst>
                  <a:outerShdw blurRad="38100" dist="38100" dir="2700000" algn="tl">
                    <a:srgbClr val="C0C0C0"/>
                  </a:outerShdw>
                </a:effectLst>
                <a:latin typeface="+mn-lt"/>
                <a:ea typeface="宋体" charset="-122"/>
              </a:defRPr>
            </a:lvl1pPr>
          </a:lstStyle>
          <a:p>
            <a:fld id="{E294AF64-FC92-4E4E-9E42-CF08351F977D}" type="slidenum">
              <a:rPr lang="en-US" altLang="zh-CN" smtClean="0">
                <a:solidFill>
                  <a:srgbClr val="2B166E"/>
                </a:solidFill>
              </a:rPr>
              <a:pPr/>
              <a:t>‹#›</a:t>
            </a:fld>
            <a:endParaRPr lang="en-US" altLang="zh-CN">
              <a:solidFill>
                <a:srgbClr val="2B16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73283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102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6">
            <a:extLst>
              <a:ext uri="{FF2B5EF4-FFF2-40B4-BE49-F238E27FC236}">
                <a16:creationId xmlns:a16="http://schemas.microsoft.com/office/drawing/2014/main" id="{597971D9-8E8B-4373-A484-0FDF164EB32D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0" y="0"/>
            <a:ext cx="12192000" cy="5486399"/>
          </a:xfrm>
          <a:prstGeom prst="rect">
            <a:avLst/>
          </a:prstGeom>
          <a:gradFill>
            <a:gsLst>
              <a:gs pos="60000">
                <a:schemeClr val="tx2"/>
              </a:gs>
              <a:gs pos="20000">
                <a:srgbClr val="652C90"/>
              </a:gs>
              <a:gs pos="100000">
                <a:srgbClr val="326196"/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Roboto" panose="02000000000000000000" pitchFamily="2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9pPr>
          </a:lstStyle>
          <a:p>
            <a:pPr defTabSz="914400" eaLnBrk="1" hangingPunct="1"/>
            <a:endParaRPr lang="zh-CN" altLang="en-US">
              <a:solidFill>
                <a:srgbClr val="2B166E"/>
              </a:solidFill>
              <a:latin typeface="Verdana" panose="020B0604030504040204" pitchFamily="34" charset="0"/>
              <a:ea typeface="DengXian" panose="03000509000000000000" pitchFamily="65" charset="-122"/>
            </a:endParaRPr>
          </a:p>
        </p:txBody>
      </p:sp>
      <p:pic>
        <p:nvPicPr>
          <p:cNvPr id="10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675" y="5999163"/>
            <a:ext cx="2806700" cy="503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 bwMode="gray">
          <a:xfrm>
            <a:off x="642851" y="918836"/>
            <a:ext cx="10906298" cy="2261765"/>
          </a:xfrm>
        </p:spPr>
        <p:txBody>
          <a:bodyPr/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/>
              <a:t>Click to edit Master title style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 bwMode="gray">
          <a:xfrm>
            <a:off x="2133600" y="3693365"/>
            <a:ext cx="7924800" cy="787806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/>
              <a:t>Click to edit Master subtitle style</a:t>
            </a:r>
          </a:p>
        </p:txBody>
      </p:sp>
      <p:sp>
        <p:nvSpPr>
          <p:cNvPr id="12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9318625" y="6477000"/>
            <a:ext cx="2844800" cy="381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2B166E"/>
                </a:solidFill>
                <a:ea typeface="DengXian" panose="03000509000000000000" pitchFamily="65" charset="-122"/>
              </a:defRPr>
            </a:lvl1pPr>
          </a:lstStyle>
          <a:p>
            <a:endParaRPr lang="en-US" altLang="zh-CN">
              <a:solidFill>
                <a:srgbClr val="2B166E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21BFCA-E25E-22CF-BBDD-1CB3342B275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0800000" flipH="1" flipV="1">
            <a:off x="6915423" y="5921911"/>
            <a:ext cx="1857642" cy="65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0797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200"/>
            </a:lvl3pPr>
          </a:lstStyle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fld id="{E294AF64-FC92-4E4E-9E42-CF08351F977D}" type="slidenum">
              <a:rPr lang="en-US" altLang="zh-CN" smtClean="0">
                <a:solidFill>
                  <a:srgbClr val="2B166E"/>
                </a:solidFill>
              </a:rPr>
              <a:pPr defTabSz="914400"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r>
              <a:rPr lang="en-US" altLang="zh-CN">
                <a:solidFill>
                  <a:srgbClr val="2B166E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3852136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3695701"/>
            <a:ext cx="10363200" cy="2073275"/>
          </a:xfrm>
        </p:spPr>
        <p:txBody>
          <a:bodyPr anchor="t"/>
          <a:lstStyle>
            <a:lvl1pPr algn="ctr">
              <a:defRPr sz="2400" b="0" cap="none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270235"/>
            <a:ext cx="10363200" cy="1425466"/>
          </a:xfrm>
        </p:spPr>
        <p:txBody>
          <a:bodyPr anchor="b"/>
          <a:lstStyle>
            <a:lvl1pPr marL="0" indent="0" algn="ctr">
              <a:buNone/>
              <a:defRPr sz="3200" b="1">
                <a:latin typeface="+mj-lt"/>
                <a:ea typeface="Verdana" panose="020B0604030504040204" pitchFamily="34" charset="0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altLang="zh-CN"/>
              <a:t>Edit Master text styles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914224-4A50-4EAD-915A-1B572A9807D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94AF64-FC92-4E4E-9E42-CF08351F977D}" type="slidenum">
              <a:rPr lang="en-US" altLang="zh-CN" smtClean="0"/>
              <a:pPr/>
              <a:t>‹#›</a:t>
            </a:fld>
            <a:r>
              <a:rPr lang="en-US" altLang="zh-CN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EDA3FB-722F-C7E2-BF40-D965202ABFE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" y="6381160"/>
            <a:ext cx="1346727" cy="47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1303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977030"/>
            <a:ext cx="5384800" cy="5347570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77030"/>
            <a:ext cx="5384800" cy="5347569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fld id="{E294AF64-FC92-4E4E-9E42-CF08351F977D}" type="slidenum">
              <a:rPr lang="en-US" altLang="zh-CN" smtClean="0">
                <a:solidFill>
                  <a:srgbClr val="2B166E"/>
                </a:solidFill>
              </a:rPr>
              <a:pPr defTabSz="914400"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r>
              <a:rPr lang="en-US" altLang="zh-CN">
                <a:solidFill>
                  <a:srgbClr val="2B166E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365349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fld id="{E294AF64-FC92-4E4E-9E42-CF08351F977D}" type="slidenum">
              <a:rPr lang="en-US" altLang="zh-CN" smtClean="0">
                <a:solidFill>
                  <a:srgbClr val="2B166E"/>
                </a:solidFill>
              </a:rPr>
              <a:pPr defTabSz="914400"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r>
              <a:rPr lang="en-US" altLang="zh-CN">
                <a:solidFill>
                  <a:srgbClr val="2B166E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459450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defTabSz="914400" fontAlgn="base">
              <a:spcBef>
                <a:spcPct val="0"/>
              </a:spcBef>
              <a:spcAft>
                <a:spcPct val="0"/>
              </a:spcAft>
            </a:pPr>
            <a:fld id="{E294AF64-FC92-4E4E-9E42-CF08351F977D}" type="slidenum">
              <a:rPr lang="en-US" altLang="zh-CN" smtClean="0">
                <a:solidFill>
                  <a:srgbClr val="2B166E"/>
                </a:solidFill>
              </a:rPr>
              <a:pPr defTabSz="914400"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r>
              <a:rPr lang="en-US" altLang="zh-CN">
                <a:solidFill>
                  <a:srgbClr val="2B166E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1755398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no 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94AF64-FC92-4E4E-9E42-CF08351F977D}" type="slidenum">
              <a:rPr lang="en-US" altLang="zh-CN" smtClean="0"/>
              <a:pPr/>
              <a:t>‹#›</a:t>
            </a:fld>
            <a:r>
              <a:rPr lang="en-US" altLang="zh-CN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FC4CCA-3F42-1F17-76EE-A1B3F176A4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" y="6381160"/>
            <a:ext cx="1346727" cy="47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1287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557867"/>
            <a:ext cx="11197021" cy="4459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buClr>
                <a:schemeClr val="tx1">
                  <a:lumMod val="50000"/>
                  <a:lumOff val="50000"/>
                </a:schemeClr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1">
                  <a:lumMod val="50000"/>
                  <a:lumOff val="50000"/>
                </a:schemeClr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1">
                  <a:lumMod val="50000"/>
                  <a:lumOff val="50000"/>
                </a:schemeClr>
              </a:buClr>
              <a:defRPr>
                <a:solidFill>
                  <a:schemeClr val="tx1"/>
                </a:solidFill>
              </a:defRPr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buFont typeface="Arial" pitchFamily="34" charset="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 Footer 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B540C-44DA-4F69-89C9-7C84606640D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57172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>
            <a:extLst>
              <a:ext uri="{FF2B5EF4-FFF2-40B4-BE49-F238E27FC236}">
                <a16:creationId xmlns:a16="http://schemas.microsoft.com/office/drawing/2014/main" id="{70F0ED6F-4B8F-423F-B8A7-8E4EA4CB2A99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white">
          <a:xfrm>
            <a:off x="126524" y="116633"/>
            <a:ext cx="8846029" cy="563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title style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6DBD31C-5976-4BFC-BF15-2F8F28B1C20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59772" y="6534799"/>
            <a:ext cx="820469" cy="24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effectLst>
                  <a:outerShdw blurRad="38100" dist="38100" dir="2700000" algn="tl">
                    <a:srgbClr val="C0C0C0"/>
                  </a:outerShdw>
                </a:effectLst>
                <a:latin typeface="+mn-lt"/>
                <a:ea typeface="宋体" charset="-122"/>
              </a:defRPr>
            </a:lvl1pPr>
          </a:lstStyle>
          <a:p>
            <a:fld id="{E294AF64-FC92-4E4E-9E42-CF08351F977D}" type="slidenum">
              <a:rPr lang="en-US" altLang="zh-CN" smtClean="0">
                <a:solidFill>
                  <a:srgbClr val="2B166E"/>
                </a:solidFill>
              </a:rPr>
              <a:pPr/>
              <a:t>‹#›</a:t>
            </a:fld>
            <a:endParaRPr lang="en-US" altLang="zh-CN">
              <a:solidFill>
                <a:srgbClr val="2B16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87716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12CD-FCB1-464E-A775-0B83FDDACE0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4736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812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54E056-6BC1-C026-65E0-EE33A6350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E86D75-D546-DBD4-7274-313A039355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82B444-7B79-AFCE-4389-32900DB8B5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3876A2-F0B1-4785-BCCE-A398A43870BE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3F5E1F-A28D-DBB5-FA26-D16A1EBC71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2228EF-E8E4-4106-3B6F-A44BD1C588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EE059-EB5A-4A09-8089-DEA560F01E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334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Rectangle 16"/>
          <p:cNvSpPr>
            <a:spLocks noChangeArrowheads="1"/>
          </p:cNvSpPr>
          <p:nvPr userDrawn="1"/>
        </p:nvSpPr>
        <p:spPr bwMode="gray">
          <a:xfrm>
            <a:off x="0" y="0"/>
            <a:ext cx="12192000" cy="815975"/>
          </a:xfrm>
          <a:prstGeom prst="rect">
            <a:avLst/>
          </a:prstGeom>
          <a:gradFill>
            <a:gsLst>
              <a:gs pos="60000">
                <a:schemeClr val="tx2"/>
              </a:gs>
              <a:gs pos="20000">
                <a:srgbClr val="652C90"/>
              </a:gs>
              <a:gs pos="100000">
                <a:srgbClr val="326196"/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Roboto" panose="02000000000000000000" pitchFamily="2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9pPr>
          </a:lstStyle>
          <a:p>
            <a:pPr defTabSz="914400" eaLnBrk="1" hangingPunct="1"/>
            <a:endParaRPr lang="zh-CN" altLang="en-US">
              <a:solidFill>
                <a:srgbClr val="2B166E"/>
              </a:solidFill>
              <a:latin typeface="Verdana" panose="020B0604030504040204" pitchFamily="34" charset="0"/>
              <a:ea typeface="DengXian" panose="03000509000000000000" pitchFamily="65" charset="-122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941388"/>
            <a:ext cx="10972800" cy="5383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673600" y="6515100"/>
            <a:ext cx="2844800" cy="320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defTabSz="914400" eaLnBrk="1" hangingPunct="1">
              <a:defRPr sz="1200" smtClean="0">
                <a:solidFill>
                  <a:srgbClr val="2B166E"/>
                </a:solidFill>
                <a:effectLst/>
                <a:latin typeface="+mj-lt"/>
                <a:ea typeface="Roboto" panose="02000000000000000000" pitchFamily="2" charset="0"/>
              </a:defRPr>
            </a:lvl1pPr>
          </a:lstStyle>
          <a:p>
            <a:fld id="{E294AF64-FC92-4E4E-9E42-CF08351F977D}" type="slidenum">
              <a:rPr lang="en-US" altLang="zh-CN" smtClean="0"/>
              <a:pPr/>
              <a:t>‹#›</a:t>
            </a:fld>
            <a:r>
              <a:rPr lang="en-US" altLang="zh-CN"/>
              <a:t> </a:t>
            </a:r>
          </a:p>
        </p:txBody>
      </p:sp>
      <p:sp>
        <p:nvSpPr>
          <p:cNvPr id="1029" name="Rectangle 2"/>
          <p:cNvSpPr>
            <a:spLocks noGrp="1" noChangeArrowheads="1"/>
          </p:cNvSpPr>
          <p:nvPr>
            <p:ph type="title"/>
          </p:nvPr>
        </p:nvSpPr>
        <p:spPr bwMode="white">
          <a:xfrm>
            <a:off x="7620" y="115888"/>
            <a:ext cx="12176761" cy="563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8927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+mj-lt"/>
          <a:ea typeface="Roboto" panose="02000000000000000000" pitchFamily="2" charset="0"/>
          <a:cs typeface="Roboto" panose="02000000000000000000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Verdana" pitchFamily="34" charset="0"/>
          <a:ea typeface="Roboto" panose="02000000000000000000" pitchFamily="2" charset="0"/>
          <a:cs typeface="Roboto" panose="02000000000000000000" pitchFamily="2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Verdana" pitchFamily="34" charset="0"/>
          <a:ea typeface="Roboto" panose="02000000000000000000" pitchFamily="2" charset="0"/>
          <a:cs typeface="Roboto" panose="02000000000000000000" pitchFamily="2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Verdana" pitchFamily="34" charset="0"/>
          <a:ea typeface="Roboto" panose="02000000000000000000" pitchFamily="2" charset="0"/>
          <a:cs typeface="Roboto" panose="02000000000000000000" pitchFamily="2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Verdana" pitchFamily="34" charset="0"/>
          <a:ea typeface="Roboto" panose="02000000000000000000" pitchFamily="2" charset="0"/>
          <a:cs typeface="Roboto" panose="02000000000000000000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Tx/>
        <a:buFont typeface="Wingdings" panose="05000000000000000000" pitchFamily="2" charset="2"/>
        <a:buChar char="v"/>
        <a:defRPr sz="2400">
          <a:solidFill>
            <a:srgbClr val="000000"/>
          </a:solidFill>
          <a:latin typeface="+mn-lt"/>
          <a:ea typeface="Roboto Light" panose="02000000000000000000" pitchFamily="2" charset="0"/>
          <a:cs typeface="Roboto Light" panose="02000000000000000000" pitchFamily="2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Tx/>
        <a:buFont typeface="Wingdings" panose="05000000000000000000" pitchFamily="2" charset="2"/>
        <a:buChar char="§"/>
        <a:defRPr sz="2200">
          <a:solidFill>
            <a:srgbClr val="000000"/>
          </a:solidFill>
          <a:latin typeface="+mn-lt"/>
          <a:ea typeface="Roboto Light" panose="02000000000000000000" pitchFamily="2" charset="0"/>
          <a:cs typeface="Roboto Light" panose="02000000000000000000" pitchFamily="2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Tx/>
        <a:buChar char="•"/>
        <a:defRPr sz="2200">
          <a:solidFill>
            <a:srgbClr val="000000"/>
          </a:solidFill>
          <a:latin typeface="+mn-lt"/>
          <a:ea typeface="Roboto Light" panose="02000000000000000000" pitchFamily="2" charset="0"/>
          <a:cs typeface="Roboto Light" panose="02000000000000000000" pitchFamily="2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Tx/>
        <a:buChar char="–"/>
        <a:defRPr sz="2200">
          <a:solidFill>
            <a:srgbClr val="000000"/>
          </a:solidFill>
          <a:latin typeface="+mn-lt"/>
          <a:ea typeface="Roboto Light" panose="02000000000000000000" pitchFamily="2" charset="0"/>
          <a:cs typeface="Roboto Light" panose="02000000000000000000" pitchFamily="2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Tx/>
        <a:buChar char="»"/>
        <a:defRPr sz="2000">
          <a:solidFill>
            <a:srgbClr val="000000"/>
          </a:solidFill>
          <a:latin typeface="+mn-lt"/>
          <a:ea typeface="Roboto Light" panose="02000000000000000000" pitchFamily="2" charset="0"/>
          <a:cs typeface="Roboto Light" panose="02000000000000000000" pitchFamily="2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Rectangle 16"/>
          <p:cNvSpPr>
            <a:spLocks noChangeArrowheads="1"/>
          </p:cNvSpPr>
          <p:nvPr userDrawn="1"/>
        </p:nvSpPr>
        <p:spPr bwMode="gray">
          <a:xfrm>
            <a:off x="0" y="0"/>
            <a:ext cx="12192000" cy="815975"/>
          </a:xfrm>
          <a:prstGeom prst="rect">
            <a:avLst/>
          </a:prstGeom>
          <a:gradFill>
            <a:gsLst>
              <a:gs pos="60000">
                <a:schemeClr val="tx2"/>
              </a:gs>
              <a:gs pos="20000">
                <a:srgbClr val="652C90"/>
              </a:gs>
              <a:gs pos="100000">
                <a:srgbClr val="326196"/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Roboto" panose="02000000000000000000" pitchFamily="2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Roboto" panose="02000000000000000000" pitchFamily="2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Roboto" panose="02000000000000000000" pitchFamily="2" charset="0"/>
              </a:defRPr>
            </a:lvl9pPr>
          </a:lstStyle>
          <a:p>
            <a:pPr defTabSz="914400" eaLnBrk="1" hangingPunct="1"/>
            <a:endParaRPr lang="zh-CN" altLang="en-US">
              <a:solidFill>
                <a:srgbClr val="2B166E"/>
              </a:solidFill>
              <a:latin typeface="Verdana" panose="020B0604030504040204" pitchFamily="34" charset="0"/>
              <a:ea typeface="DengXian" panose="03000509000000000000" pitchFamily="65" charset="-122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941388"/>
            <a:ext cx="10972800" cy="5383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673600" y="6515100"/>
            <a:ext cx="2844800" cy="320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defTabSz="914400" eaLnBrk="1" hangingPunct="1">
              <a:defRPr sz="1200" smtClean="0">
                <a:solidFill>
                  <a:srgbClr val="2B166E"/>
                </a:solidFill>
                <a:effectLst/>
                <a:latin typeface="+mj-lt"/>
                <a:ea typeface="Roboto" panose="02000000000000000000" pitchFamily="2" charset="0"/>
              </a:defRPr>
            </a:lvl1pPr>
          </a:lstStyle>
          <a:p>
            <a:fld id="{E294AF64-FC92-4E4E-9E42-CF08351F977D}" type="slidenum">
              <a:rPr lang="en-US" altLang="zh-CN" smtClean="0"/>
              <a:pPr/>
              <a:t>‹#›</a:t>
            </a:fld>
            <a:r>
              <a:rPr lang="en-US" altLang="zh-CN"/>
              <a:t> </a:t>
            </a:r>
          </a:p>
        </p:txBody>
      </p:sp>
      <p:sp>
        <p:nvSpPr>
          <p:cNvPr id="1029" name="Rectangle 2"/>
          <p:cNvSpPr>
            <a:spLocks noGrp="1" noChangeArrowheads="1"/>
          </p:cNvSpPr>
          <p:nvPr>
            <p:ph type="title"/>
          </p:nvPr>
        </p:nvSpPr>
        <p:spPr bwMode="white">
          <a:xfrm>
            <a:off x="7620" y="115888"/>
            <a:ext cx="12176761" cy="563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49AAD2D-9E5C-9DEC-946B-320943412A0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" y="6381160"/>
            <a:ext cx="1346727" cy="47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100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hdr="0" ftr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+mj-lt"/>
          <a:ea typeface="Roboto" panose="02000000000000000000" pitchFamily="2" charset="0"/>
          <a:cs typeface="Roboto" panose="02000000000000000000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Verdana" pitchFamily="34" charset="0"/>
          <a:ea typeface="Roboto" panose="02000000000000000000" pitchFamily="2" charset="0"/>
          <a:cs typeface="Roboto" panose="02000000000000000000" pitchFamily="2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Verdana" pitchFamily="34" charset="0"/>
          <a:ea typeface="Roboto" panose="02000000000000000000" pitchFamily="2" charset="0"/>
          <a:cs typeface="Roboto" panose="02000000000000000000" pitchFamily="2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Verdana" pitchFamily="34" charset="0"/>
          <a:ea typeface="Roboto" panose="02000000000000000000" pitchFamily="2" charset="0"/>
          <a:cs typeface="Roboto" panose="02000000000000000000" pitchFamily="2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Verdana" pitchFamily="34" charset="0"/>
          <a:ea typeface="Roboto" panose="02000000000000000000" pitchFamily="2" charset="0"/>
          <a:cs typeface="Roboto" panose="02000000000000000000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Tx/>
        <a:buFont typeface="Wingdings" panose="05000000000000000000" pitchFamily="2" charset="2"/>
        <a:buChar char="v"/>
        <a:defRPr sz="2400">
          <a:solidFill>
            <a:srgbClr val="000000"/>
          </a:solidFill>
          <a:latin typeface="+mn-lt"/>
          <a:ea typeface="Roboto Light" panose="02000000000000000000" pitchFamily="2" charset="0"/>
          <a:cs typeface="Roboto Light" panose="02000000000000000000" pitchFamily="2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Tx/>
        <a:buFont typeface="Wingdings" panose="05000000000000000000" pitchFamily="2" charset="2"/>
        <a:buChar char="§"/>
        <a:defRPr sz="2200">
          <a:solidFill>
            <a:srgbClr val="000000"/>
          </a:solidFill>
          <a:latin typeface="+mn-lt"/>
          <a:ea typeface="Roboto Light" panose="02000000000000000000" pitchFamily="2" charset="0"/>
          <a:cs typeface="Roboto Light" panose="02000000000000000000" pitchFamily="2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Tx/>
        <a:buChar char="•"/>
        <a:defRPr sz="2200">
          <a:solidFill>
            <a:srgbClr val="000000"/>
          </a:solidFill>
          <a:latin typeface="+mn-lt"/>
          <a:ea typeface="Roboto Light" panose="02000000000000000000" pitchFamily="2" charset="0"/>
          <a:cs typeface="Roboto Light" panose="02000000000000000000" pitchFamily="2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Tx/>
        <a:buChar char="–"/>
        <a:defRPr sz="2200">
          <a:solidFill>
            <a:srgbClr val="000000"/>
          </a:solidFill>
          <a:latin typeface="+mn-lt"/>
          <a:ea typeface="Roboto Light" panose="02000000000000000000" pitchFamily="2" charset="0"/>
          <a:cs typeface="Roboto Light" panose="02000000000000000000" pitchFamily="2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Tx/>
        <a:buChar char="»"/>
        <a:defRPr sz="2000">
          <a:solidFill>
            <a:srgbClr val="000000"/>
          </a:solidFill>
          <a:latin typeface="+mn-lt"/>
          <a:ea typeface="Roboto Light" panose="02000000000000000000" pitchFamily="2" charset="0"/>
          <a:cs typeface="Roboto Light" panose="02000000000000000000" pitchFamily="2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5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8.emf"/><Relationship Id="rId7" Type="http://schemas.openxmlformats.org/officeDocument/2006/relationships/image" Target="../media/image154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svg"/><Relationship Id="rId5" Type="http://schemas.openxmlformats.org/officeDocument/2006/relationships/image" Target="../media/image152.png"/><Relationship Id="rId4" Type="http://schemas.openxmlformats.org/officeDocument/2006/relationships/image" Target="../media/image19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2A93F-C6D8-A7E1-ED37-BD2720E9E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55307-D230-4BE5-EB43-FFF2B0B934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kern="1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06/17/2026</a:t>
            </a:r>
            <a:endParaRPr lang="en-US" b="0" kern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1E6846-9ADB-DA2F-06FB-DC1612B0B3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53F49-6A64-8A64-F75B-6FE607FDF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D20C17F4-38C1-DD7E-01B4-AE24302EA058}"/>
              </a:ext>
            </a:extLst>
          </p:cNvPr>
          <p:cNvSpPr/>
          <p:nvPr/>
        </p:nvSpPr>
        <p:spPr>
          <a:xfrm>
            <a:off x="609600" y="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Initial DOE across </a:t>
            </a:r>
            <a:r>
              <a:rPr kumimoji="0" lang="en-US" sz="35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th</a:t>
            </a:r>
            <a:r>
              <a:rPr kumimoji="0" 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 runs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88769B2-674C-A685-AF31-89F4568B80DB}"/>
                  </a:ext>
                </a:extLst>
              </p:cNvPr>
              <p:cNvSpPr txBox="1"/>
              <p:nvPr/>
            </p:nvSpPr>
            <p:spPr>
              <a:xfrm>
                <a:off x="3048930" y="6250088"/>
                <a:ext cx="60941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342F2E"/>
                    </a:solidFill>
                    <a:effectLst/>
                    <a:uLnTx/>
                    <a:uFillTx/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true minimum = 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342F2E"/>
                    </a:solidFill>
                    <a:effectLst/>
                    <a:uLnTx/>
                    <a:uFillTx/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0.465.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0" lang="en-US" sz="18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42F2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kumimoji="0" lang="en-US" sz="18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42F2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𝑥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42F2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  <m:sup>
                        <m:r>
                          <a:rPr kumimoji="0" lang="en-US" sz="18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42F2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∗</m:t>
                        </m:r>
                      </m:sup>
                    </m:sSubSup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42F2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= </m:t>
                    </m:r>
                    <m:r>
                      <a: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42F2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𝟐</m:t>
                    </m:r>
                  </m:oMath>
                </a14:m>
                <a:endParaRPr kumimoji="0" lang="en-US" sz="1800" b="1" i="1" u="none" strike="noStrike" kern="1200" cap="none" spc="0" normalizeH="0" baseline="0" noProof="0" dirty="0">
                  <a:ln>
                    <a:noFill/>
                  </a:ln>
                  <a:solidFill>
                    <a:srgbClr val="342F2E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88769B2-674C-A685-AF31-89F4568B8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930" y="6250088"/>
                <a:ext cx="6094140" cy="369332"/>
              </a:xfrm>
              <a:prstGeom prst="rect">
                <a:avLst/>
              </a:prstGeom>
              <a:blipFill>
                <a:blip r:embed="rId2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4DC4014-60F7-7C85-1F6D-93C3D9784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6" y="1623224"/>
            <a:ext cx="7457021" cy="46268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C8D30B-42EA-F3FD-B80C-C1BB8BCDA9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892"/>
          <a:stretch>
            <a:fillRect/>
          </a:stretch>
        </p:blipFill>
        <p:spPr>
          <a:xfrm>
            <a:off x="66676" y="1623224"/>
            <a:ext cx="7921313" cy="462536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3365F00-9588-B6D5-0080-9C5718E18DBE}"/>
              </a:ext>
            </a:extLst>
          </p:cNvPr>
          <p:cNvSpPr/>
          <p:nvPr/>
        </p:nvSpPr>
        <p:spPr>
          <a:xfrm>
            <a:off x="1504950" y="1048064"/>
            <a:ext cx="5372100" cy="4116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Previous DOE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450948-4E8D-C5D6-1857-44A925646201}"/>
              </a:ext>
            </a:extLst>
          </p:cNvPr>
          <p:cNvSpPr txBox="1"/>
          <p:nvPr/>
        </p:nvSpPr>
        <p:spPr>
          <a:xfrm>
            <a:off x="1295400" y="1068477"/>
            <a:ext cx="6096000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New DOE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6CD6878-3185-1A53-CC3F-1904B2C74CFC}"/>
              </a:ext>
            </a:extLst>
          </p:cNvPr>
          <p:cNvSpPr/>
          <p:nvPr/>
        </p:nvSpPr>
        <p:spPr>
          <a:xfrm>
            <a:off x="8420100" y="1604174"/>
            <a:ext cx="3381375" cy="2577301"/>
          </a:xfrm>
          <a:prstGeom prst="roundRect">
            <a:avLst>
              <a:gd name="adj" fmla="val 842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94AB00-E6DF-156F-660A-0D16765BD32E}"/>
              </a:ext>
            </a:extLst>
          </p:cNvPr>
          <p:cNvSpPr txBox="1"/>
          <p:nvPr/>
        </p:nvSpPr>
        <p:spPr>
          <a:xfrm>
            <a:off x="8686800" y="1866900"/>
            <a:ext cx="289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We decided to change the initial DOE since in the previous one, one of the samples was very close to the minimum value</a:t>
            </a:r>
          </a:p>
        </p:txBody>
      </p:sp>
    </p:spTree>
    <p:extLst>
      <p:ext uri="{BB962C8B-B14F-4D97-AF65-F5344CB8AC3E}">
        <p14:creationId xmlns:p14="http://schemas.microsoft.com/office/powerpoint/2010/main" val="1863921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F9178-4AE6-D675-BEBF-934F564C0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6C38A8E-463D-E3E3-5F44-C1BAC654770E}"/>
              </a:ext>
            </a:extLst>
          </p:cNvPr>
          <p:cNvSpPr/>
          <p:nvPr/>
        </p:nvSpPr>
        <p:spPr>
          <a:xfrm>
            <a:off x="609600" y="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 (in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) evaluated on the ground truth, log scale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1184E981-36AC-A0A4-088F-EA421B1E1D2B}"/>
              </a:ext>
            </a:extLst>
          </p:cNvPr>
          <p:cNvSpPr/>
          <p:nvPr/>
        </p:nvSpPr>
        <p:spPr>
          <a:xfrm>
            <a:off x="11216640" y="6035040"/>
            <a:ext cx="365760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DFEBC2-F0B1-EC2B-81B6-D4ADBCE1C9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144"/>
          <a:stretch>
            <a:fillRect/>
          </a:stretch>
        </p:blipFill>
        <p:spPr>
          <a:xfrm>
            <a:off x="38100" y="851697"/>
            <a:ext cx="12115800" cy="2846152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A5A595E-BCFF-2394-3367-9564B333D004}"/>
              </a:ext>
            </a:extLst>
          </p:cNvPr>
          <p:cNvSpPr/>
          <p:nvPr/>
        </p:nvSpPr>
        <p:spPr>
          <a:xfrm>
            <a:off x="419100" y="4071149"/>
            <a:ext cx="3381375" cy="2577301"/>
          </a:xfrm>
          <a:prstGeom prst="roundRect">
            <a:avLst>
              <a:gd name="adj" fmla="val 842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3F1FDC-4997-044A-18BC-E6ED7C76F02E}"/>
              </a:ext>
            </a:extLst>
          </p:cNvPr>
          <p:cNvSpPr txBox="1"/>
          <p:nvPr/>
        </p:nvSpPr>
        <p:spPr>
          <a:xfrm>
            <a:off x="685800" y="4333875"/>
            <a:ext cx="2895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When we do 3 replicates all the acquisitions manage to decrease by ~2 orders of magnitude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0CF940-B9E4-09D4-128A-E399BEA7FEFE}"/>
              </a:ext>
            </a:extLst>
          </p:cNvPr>
          <p:cNvSpPr/>
          <p:nvPr/>
        </p:nvSpPr>
        <p:spPr>
          <a:xfrm>
            <a:off x="4067175" y="4061624"/>
            <a:ext cx="3381375" cy="2577301"/>
          </a:xfrm>
          <a:prstGeom prst="roundRect">
            <a:avLst>
              <a:gd name="adj" fmla="val 842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060443-1B0F-65CE-6BC6-90758655FFD2}"/>
              </a:ext>
            </a:extLst>
          </p:cNvPr>
          <p:cNvSpPr txBox="1"/>
          <p:nvPr/>
        </p:nvSpPr>
        <p:spPr>
          <a:xfrm>
            <a:off x="4333875" y="4324350"/>
            <a:ext cx="289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Having &gt;=5 make that some acquisitions improve by one more order of magnitude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549F3A4-5DD9-C132-46DD-4161854360B0}"/>
              </a:ext>
            </a:extLst>
          </p:cNvPr>
          <p:cNvGraphicFramePr>
            <a:graphicFrameLocks noGrp="1"/>
          </p:cNvGraphicFramePr>
          <p:nvPr/>
        </p:nvGraphicFramePr>
        <p:xfrm>
          <a:off x="7937500" y="4112024"/>
          <a:ext cx="3530600" cy="2476500"/>
        </p:xfrm>
        <a:graphic>
          <a:graphicData uri="http://schemas.openxmlformats.org/drawingml/2006/table">
            <a:tbl>
              <a:tblPr/>
              <a:tblGrid>
                <a:gridCol w="1584650">
                  <a:extLst>
                    <a:ext uri="{9D8B030D-6E8A-4147-A177-3AD203B41FA5}">
                      <a16:colId xmlns:a16="http://schemas.microsoft.com/office/drawing/2014/main" val="2485954089"/>
                    </a:ext>
                  </a:extLst>
                </a:gridCol>
                <a:gridCol w="751124">
                  <a:extLst>
                    <a:ext uri="{9D8B030D-6E8A-4147-A177-3AD203B41FA5}">
                      <a16:colId xmlns:a16="http://schemas.microsoft.com/office/drawing/2014/main" val="2936859799"/>
                    </a:ext>
                  </a:extLst>
                </a:gridCol>
                <a:gridCol w="595828">
                  <a:extLst>
                    <a:ext uri="{9D8B030D-6E8A-4147-A177-3AD203B41FA5}">
                      <a16:colId xmlns:a16="http://schemas.microsoft.com/office/drawing/2014/main" val="2770202087"/>
                    </a:ext>
                  </a:extLst>
                </a:gridCol>
                <a:gridCol w="598998">
                  <a:extLst>
                    <a:ext uri="{9D8B030D-6E8A-4147-A177-3AD203B41FA5}">
                      <a16:colId xmlns:a16="http://schemas.microsoft.com/office/drawing/2014/main" val="99607979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type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mean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median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41783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LCB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neutral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0.0246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0.0086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13585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neutral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1.0864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93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0.1495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8D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4646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EI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neutral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0.0130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EE68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0.0037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9CD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3914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HAEI(γ=0.5)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0.0098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9D67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0.0036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7CD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7087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HAEI(γ=1)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0.0108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ADB8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0.0080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E9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72925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HAEI(γ=5)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0.0137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E98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0.0058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C8DB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1622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ANPEI(β=0.2)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1.5829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928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ANPEI(β=0.5)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0.0056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5C3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0.0012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96808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ANPEI(β=0.8)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0.0045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0.0020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3C2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513194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RAHBO(α=0.5)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0.0145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0.0126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9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692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RAHBO(α=1)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0.0166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0.0123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9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9646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RAHBO(α=5)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0.0240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0.0112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A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326986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B1917002-7EA4-048F-EF96-100AC906E1CC}"/>
              </a:ext>
            </a:extLst>
          </p:cNvPr>
          <p:cNvSpPr txBox="1"/>
          <p:nvPr/>
        </p:nvSpPr>
        <p:spPr>
          <a:xfrm>
            <a:off x="7939087" y="3747623"/>
            <a:ext cx="36766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Table from 10 repeated samples, final value</a:t>
            </a:r>
          </a:p>
        </p:txBody>
      </p:sp>
      <p:sp>
        <p:nvSpPr>
          <p:cNvPr id="17" name="Arrow: Curved Left 16">
            <a:extLst>
              <a:ext uri="{FF2B5EF4-FFF2-40B4-BE49-F238E27FC236}">
                <a16:creationId xmlns:a16="http://schemas.microsoft.com/office/drawing/2014/main" id="{6479EC06-226F-DE25-D9ED-6B019C97F784}"/>
              </a:ext>
            </a:extLst>
          </p:cNvPr>
          <p:cNvSpPr/>
          <p:nvPr/>
        </p:nvSpPr>
        <p:spPr>
          <a:xfrm>
            <a:off x="11544300" y="3000376"/>
            <a:ext cx="295275" cy="971550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42F2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922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13" grpId="0"/>
      <p:bldP spid="1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CA7FD-829D-B16E-EE45-64406D6F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11A3463D-7F67-59B3-100D-EEE37254FD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908"/>
          <a:stretch>
            <a:fillRect/>
          </a:stretch>
        </p:blipFill>
        <p:spPr>
          <a:xfrm>
            <a:off x="962028" y="1347426"/>
            <a:ext cx="10668000" cy="2512699"/>
          </a:xfrm>
          <a:prstGeom prst="rect">
            <a:avLst/>
          </a:prstGeom>
        </p:spPr>
      </p:pic>
      <p:sp>
        <p:nvSpPr>
          <p:cNvPr id="12" name="Text 0">
            <a:extLst>
              <a:ext uri="{FF2B5EF4-FFF2-40B4-BE49-F238E27FC236}">
                <a16:creationId xmlns:a16="http://schemas.microsoft.com/office/drawing/2014/main" id="{4CD86F39-AF30-E052-12B6-7BB2E100B992}"/>
              </a:ext>
            </a:extLst>
          </p:cNvPr>
          <p:cNvSpPr/>
          <p:nvPr/>
        </p:nvSpPr>
        <p:spPr>
          <a:xfrm>
            <a:off x="609600" y="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Variance on the best point vs iteration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19B4A1-17EB-5930-739E-A93A62B8E4E9}"/>
              </a:ext>
            </a:extLst>
          </p:cNvPr>
          <p:cNvSpPr txBox="1"/>
          <p:nvPr/>
        </p:nvSpPr>
        <p:spPr>
          <a:xfrm>
            <a:off x="1323973" y="945118"/>
            <a:ext cx="44958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true minimum: x2=2 X1=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0.465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with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σ²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= 1.41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kumimoji="0" lang="en-US" sz="1800" b="1" i="1" u="none" strike="noStrike" kern="1200" cap="none" spc="0" normalizeH="0" baseline="0" noProof="0" dirty="0">
              <a:ln>
                <a:noFill/>
              </a:ln>
              <a:solidFill>
                <a:srgbClr val="342F2E"/>
              </a:solidFill>
              <a:effectLst/>
              <a:uLnTx/>
              <a:uFillTx/>
              <a:latin typeface="Cambria Math" panose="02040503050406030204" pitchFamily="18" charset="0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166F8D-4ABE-3697-F276-B08E10634038}"/>
              </a:ext>
            </a:extLst>
          </p:cNvPr>
          <p:cNvSpPr txBox="1"/>
          <p:nvPr/>
        </p:nvSpPr>
        <p:spPr>
          <a:xfrm>
            <a:off x="6648452" y="94511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Smaller possible variance: x2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=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4, x1=0, σ²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-apple-system"/>
                <a:ea typeface="+mn-ea"/>
                <a:cs typeface="+mn-cs"/>
              </a:rPr>
              <a:t>= 0.46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342F2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667212-E8C0-78C6-DE1B-413364334CA4}"/>
              </a:ext>
            </a:extLst>
          </p:cNvPr>
          <p:cNvSpPr/>
          <p:nvPr/>
        </p:nvSpPr>
        <p:spPr>
          <a:xfrm>
            <a:off x="419100" y="4135752"/>
            <a:ext cx="3381375" cy="2512698"/>
          </a:xfrm>
          <a:prstGeom prst="roundRect">
            <a:avLst>
              <a:gd name="adj" fmla="val 842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23FC61-D4EA-599D-89AC-1698C8BF2690}"/>
              </a:ext>
            </a:extLst>
          </p:cNvPr>
          <p:cNvSpPr txBox="1"/>
          <p:nvPr/>
        </p:nvSpPr>
        <p:spPr>
          <a:xfrm>
            <a:off x="676274" y="4238625"/>
            <a:ext cx="289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For some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acq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 σ² stuck high (10-40), the best point it ever visited is way out at extreme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3D036B0-E268-FE7F-A9A0-585664460E30}"/>
              </a:ext>
            </a:extLst>
          </p:cNvPr>
          <p:cNvSpPr/>
          <p:nvPr/>
        </p:nvSpPr>
        <p:spPr>
          <a:xfrm>
            <a:off x="3857624" y="1658893"/>
            <a:ext cx="419100" cy="68425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D541E457-2EDA-B9B7-F325-D71DE7CB36B9}"/>
              </a:ext>
            </a:extLst>
          </p:cNvPr>
          <p:cNvGraphicFramePr>
            <a:graphicFrameLocks noGrp="1"/>
          </p:cNvGraphicFramePr>
          <p:nvPr/>
        </p:nvGraphicFramePr>
        <p:xfrm>
          <a:off x="6934200" y="3981450"/>
          <a:ext cx="5257800" cy="2667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182783799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38133525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15715359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6907956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20030143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14475474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24566788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623420772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n_rep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=3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n_rep=10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49807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family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final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median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peak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final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median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peak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15887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LCB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neutral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13.20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DD8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52.86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A7E6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11.74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DBB7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42.94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CA9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53122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PI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neutral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37.89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45.72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A67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28.97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45.06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32.14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ECE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3443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EI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neutral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26.94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9D75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45.22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6B6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56.36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11.52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BC7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61.49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10256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HAEI(γ=0.5)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11.69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4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EEA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42.96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B77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1.40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E58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E9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41.61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A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28512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HAEI(γ=1)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EA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43.98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B27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1.40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E9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E8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33.30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ECA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8668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HAEI(γ=5)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18.95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C27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38.34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ED28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1.40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E6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35.43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DC3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0889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ANPEI(β=0.2)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1.87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9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3D57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05724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ANPEI(β=0.5)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9C47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08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20.03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7D67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1.38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7C3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96180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ANPEI(β=0.8)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E8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26.92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08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EEA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15.09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DD8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5155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RAHBO(α=0.5)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29.70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9E48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BCE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2293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RAHBO(α=1)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9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18.16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ED37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1.40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E7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95CC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50607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RAHBO(α=5)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risk-aware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A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5C37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1.39</a:t>
                      </a:r>
                    </a:p>
                  </a:txBody>
                  <a:tcPr marL="9525" marR="9525" marT="9525" marB="0" anchor="b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B0D47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6E38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575714"/>
                  </a:ext>
                </a:extLst>
              </a:tr>
            </a:tbl>
          </a:graphicData>
        </a:graphic>
      </p:graphicFrame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D7F35E1-9E0F-9C76-3A4E-4A1ECAD8F26B}"/>
              </a:ext>
            </a:extLst>
          </p:cNvPr>
          <p:cNvSpPr/>
          <p:nvPr/>
        </p:nvSpPr>
        <p:spPr>
          <a:xfrm>
            <a:off x="3857624" y="4135752"/>
            <a:ext cx="2686052" cy="2512698"/>
          </a:xfrm>
          <a:prstGeom prst="roundRect">
            <a:avLst>
              <a:gd name="adj" fmla="val 842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5C565D-3D5A-2324-8D3E-5D7DDD22A6DC}"/>
              </a:ext>
            </a:extLst>
          </p:cNvPr>
          <p:cNvSpPr txBox="1"/>
          <p:nvPr/>
        </p:nvSpPr>
        <p:spPr>
          <a:xfrm>
            <a:off x="4114797" y="4238625"/>
            <a:ext cx="23001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There are some peaks at iteration ~10, I suspect acquisition functions are exploring noisy regions</a:t>
            </a:r>
          </a:p>
        </p:txBody>
      </p:sp>
    </p:spTree>
    <p:extLst>
      <p:ext uri="{BB962C8B-B14F-4D97-AF65-F5344CB8AC3E}">
        <p14:creationId xmlns:p14="http://schemas.microsoft.com/office/powerpoint/2010/main" val="3365892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3" grpId="0" animBg="1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516ED-CB78-3A40-4F8B-C97E5D05B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6419119-1CE9-DBC3-487C-1970DA650485}"/>
              </a:ext>
            </a:extLst>
          </p:cNvPr>
          <p:cNvSpPr/>
          <p:nvPr/>
        </p:nvSpPr>
        <p:spPr>
          <a:xfrm>
            <a:off x="427025" y="43435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723990F1-45D9-99A5-377A-36C8B6752EDC}"/>
              </a:ext>
            </a:extLst>
          </p:cNvPr>
          <p:cNvSpPr/>
          <p:nvPr/>
        </p:nvSpPr>
        <p:spPr>
          <a:xfrm>
            <a:off x="762305" y="518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21E54B9-2D8A-46FB-1142-73A216240361}"/>
              </a:ext>
            </a:extLst>
          </p:cNvPr>
          <p:cNvSpPr/>
          <p:nvPr/>
        </p:nvSpPr>
        <p:spPr>
          <a:xfrm>
            <a:off x="578510" y="66865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 robustness, Pareto view ground truth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2C3907-2E72-33C3-D76A-9DED0F8C93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98"/>
          <a:stretch>
            <a:fillRect/>
          </a:stretch>
        </p:blipFill>
        <p:spPr>
          <a:xfrm>
            <a:off x="0" y="929640"/>
            <a:ext cx="6576940" cy="4714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29C7059-1B7D-87DD-FFBF-241E483D79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82"/>
          <a:stretch>
            <a:fillRect/>
          </a:stretch>
        </p:blipFill>
        <p:spPr>
          <a:xfrm>
            <a:off x="6576940" y="883920"/>
            <a:ext cx="5521762" cy="427234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91FAC33-BCFD-71BA-D727-D46A660CC9C6}"/>
              </a:ext>
            </a:extLst>
          </p:cNvPr>
          <p:cNvSpPr txBox="1"/>
          <p:nvPr/>
        </p:nvSpPr>
        <p:spPr>
          <a:xfrm>
            <a:off x="4124323" y="5429868"/>
            <a:ext cx="44958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true minimum: X1=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0.465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with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σ²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= 1.41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kumimoji="0" lang="en-US" sz="1800" b="1" i="1" u="none" strike="noStrike" kern="1200" cap="none" spc="0" normalizeH="0" baseline="0" noProof="0" dirty="0">
              <a:ln>
                <a:noFill/>
              </a:ln>
              <a:solidFill>
                <a:srgbClr val="342F2E"/>
              </a:solidFill>
              <a:effectLst/>
              <a:uLnTx/>
              <a:uFillTx/>
              <a:latin typeface="Cambria Math" panose="02040503050406030204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4092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FF4ED-9B3E-9FD6-B1B0-1B65722E4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632B447E-FB19-874F-869F-3ACBC2E2BF93}"/>
              </a:ext>
            </a:extLst>
          </p:cNvPr>
          <p:cNvSpPr/>
          <p:nvPr/>
        </p:nvSpPr>
        <p:spPr>
          <a:xfrm>
            <a:off x="609600" y="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of the final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best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input values, on ground truth function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7B18B3DB-CEE9-90CD-B1C0-9ABB2494696B}"/>
              </a:ext>
            </a:extLst>
          </p:cNvPr>
          <p:cNvSpPr/>
          <p:nvPr/>
        </p:nvSpPr>
        <p:spPr>
          <a:xfrm>
            <a:off x="11216640" y="6035040"/>
            <a:ext cx="365760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B735C67-440B-C932-2BEA-90A26D1737A8}"/>
                  </a:ext>
                </a:extLst>
              </p:cNvPr>
              <p:cNvSpPr txBox="1"/>
              <p:nvPr/>
            </p:nvSpPr>
            <p:spPr>
              <a:xfrm>
                <a:off x="3172817" y="6339535"/>
                <a:ext cx="60941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342F2E"/>
                    </a:solidFill>
                    <a:effectLst/>
                    <a:uLnTx/>
                    <a:uFillTx/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Dashed line = true minimum = </a:t>
                </a: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342F2E"/>
                    </a:solidFill>
                    <a:effectLst/>
                    <a:uLnTx/>
                    <a:uFillTx/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0.465.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0" lang="en-US" sz="18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42F2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SupPr>
                      <m:e>
                        <m:r>
                          <a:rPr kumimoji="0" lang="en-US" sz="18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42F2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𝑥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42F2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  <m:sup>
                        <m:r>
                          <a:rPr kumimoji="0" lang="en-US" sz="18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42F2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∗</m:t>
                        </m:r>
                      </m:sup>
                    </m:sSubSup>
                    <m:r>
                      <a:rPr kumimoji="0" lang="en-US" sz="1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42F2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= </m:t>
                    </m:r>
                    <m:r>
                      <a: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42F2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𝟐</m:t>
                    </m:r>
                  </m:oMath>
                </a14:m>
                <a:endParaRPr kumimoji="0" lang="en-US" sz="1800" b="1" i="1" u="none" strike="noStrike" kern="1200" cap="none" spc="0" normalizeH="0" baseline="0" noProof="0" dirty="0">
                  <a:ln>
                    <a:noFill/>
                  </a:ln>
                  <a:solidFill>
                    <a:srgbClr val="342F2E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B735C67-440B-C932-2BEA-90A26D173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817" y="6339535"/>
                <a:ext cx="6094140" cy="369332"/>
              </a:xfrm>
              <a:prstGeom prst="rect">
                <a:avLst/>
              </a:prstGeom>
              <a:blipFill>
                <a:blip r:embed="rId2"/>
                <a:stretch>
                  <a:fillRect t="-983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5">
            <a:extLst>
              <a:ext uri="{FF2B5EF4-FFF2-40B4-BE49-F238E27FC236}">
                <a16:creationId xmlns:a16="http://schemas.microsoft.com/office/drawing/2014/main" id="{E0FE9E89-0CF4-E9D8-685E-46B74257B8CA}"/>
              </a:ext>
            </a:extLst>
          </p:cNvPr>
          <p:cNvSpPr/>
          <p:nvPr/>
        </p:nvSpPr>
        <p:spPr>
          <a:xfrm>
            <a:off x="5913120" y="5327825"/>
            <a:ext cx="5303520" cy="89155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rgbClr val="E6F4F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B9C5FA-8913-1BDD-EABB-06BE6327FDDA}"/>
              </a:ext>
            </a:extLst>
          </p:cNvPr>
          <p:cNvSpPr txBox="1"/>
          <p:nvPr/>
        </p:nvSpPr>
        <p:spPr>
          <a:xfrm>
            <a:off x="5913120" y="5402292"/>
            <a:ext cx="5303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7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We are visualizing the second category, not all seeds end up in this category.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E61B489-90A4-FB0C-9208-B4D4DE2003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53"/>
          <a:stretch>
            <a:fillRect/>
          </a:stretch>
        </p:blipFill>
        <p:spPr>
          <a:xfrm>
            <a:off x="0" y="1395413"/>
            <a:ext cx="12192000" cy="333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78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D7A2A-26F5-5D8F-84AF-9DF65443D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04E43D0-8214-744B-1A28-53C484BFD3A5}"/>
              </a:ext>
            </a:extLst>
          </p:cNvPr>
          <p:cNvSpPr/>
          <p:nvPr/>
        </p:nvSpPr>
        <p:spPr>
          <a:xfrm>
            <a:off x="427025" y="43435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6F416E29-19AC-9BAB-9980-89A738F043B9}"/>
              </a:ext>
            </a:extLst>
          </p:cNvPr>
          <p:cNvSpPr/>
          <p:nvPr/>
        </p:nvSpPr>
        <p:spPr>
          <a:xfrm>
            <a:off x="762305" y="518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599BD8-C7FB-C906-7858-BFB6E06582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85" b="-1890"/>
          <a:stretch>
            <a:fillRect/>
          </a:stretch>
        </p:blipFill>
        <p:spPr>
          <a:xfrm>
            <a:off x="427025" y="1354455"/>
            <a:ext cx="8363492" cy="5267324"/>
          </a:xfrm>
          <a:prstGeom prst="rect">
            <a:avLst/>
          </a:prstGeom>
        </p:spPr>
      </p:pic>
      <p:sp>
        <p:nvSpPr>
          <p:cNvPr id="12" name="Text 0">
            <a:extLst>
              <a:ext uri="{FF2B5EF4-FFF2-40B4-BE49-F238E27FC236}">
                <a16:creationId xmlns:a16="http://schemas.microsoft.com/office/drawing/2014/main" id="{616978AD-2632-DAF2-9A39-CCC868D4292C}"/>
              </a:ext>
            </a:extLst>
          </p:cNvPr>
          <p:cNvSpPr/>
          <p:nvPr/>
        </p:nvSpPr>
        <p:spPr>
          <a:xfrm>
            <a:off x="578510" y="66865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Extra, where the best point is located for each seed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AB2B02C6-E910-824C-D310-0E739EAAC1A8}"/>
              </a:ext>
            </a:extLst>
          </p:cNvPr>
          <p:cNvSpPr/>
          <p:nvPr/>
        </p:nvSpPr>
        <p:spPr>
          <a:xfrm>
            <a:off x="8991599" y="1841675"/>
            <a:ext cx="3129915" cy="89155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rgbClr val="E6F4F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0EC6F5-1388-1859-62FD-3B7B7B8E68B6}"/>
              </a:ext>
            </a:extLst>
          </p:cNvPr>
          <p:cNvSpPr txBox="1"/>
          <p:nvPr/>
        </p:nvSpPr>
        <p:spPr>
          <a:xfrm>
            <a:off x="8991599" y="1916142"/>
            <a:ext cx="31299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7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Sampled on the ground truth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6ED136A-83C5-05DA-178A-F1457D1D6188}"/>
              </a:ext>
            </a:extLst>
          </p:cNvPr>
          <p:cNvSpPr/>
          <p:nvPr/>
        </p:nvSpPr>
        <p:spPr>
          <a:xfrm>
            <a:off x="578510" y="1249680"/>
            <a:ext cx="6279490" cy="1569720"/>
          </a:xfrm>
          <a:prstGeom prst="roundRect">
            <a:avLst>
              <a:gd name="adj" fmla="val 10599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CFE342C-B10B-CA11-CA5F-8A73C5584225}"/>
              </a:ext>
            </a:extLst>
          </p:cNvPr>
          <p:cNvSpPr/>
          <p:nvPr/>
        </p:nvSpPr>
        <p:spPr>
          <a:xfrm>
            <a:off x="8991599" y="3021326"/>
            <a:ext cx="3019426" cy="3055623"/>
          </a:xfrm>
          <a:prstGeom prst="roundRect">
            <a:avLst>
              <a:gd name="adj" fmla="val 842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445360-B629-29AA-6F9A-8FFB814FBB05}"/>
              </a:ext>
            </a:extLst>
          </p:cNvPr>
          <p:cNvSpPr txBox="1"/>
          <p:nvPr/>
        </p:nvSpPr>
        <p:spPr>
          <a:xfrm>
            <a:off x="9248771" y="3124200"/>
            <a:ext cx="25856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This explains why the neutral acquisition functions do not perform as good as the risk-aware</a:t>
            </a:r>
          </a:p>
        </p:txBody>
      </p:sp>
    </p:spTree>
    <p:extLst>
      <p:ext uri="{BB962C8B-B14F-4D97-AF65-F5344CB8AC3E}">
        <p14:creationId xmlns:p14="http://schemas.microsoft.com/office/powerpoint/2010/main" val="777381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364D1-767A-FD1E-3320-F9066B386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0514B-B569-C43B-F975-3541BE8CE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kern="1200">
                <a:latin typeface="Aptos" panose="02110004020202020204"/>
              </a:rPr>
              <a:t>Implementation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9ABB0-1626-49CD-1F4D-D0D2C55E09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294AF64-FC92-4E4E-9E42-CF08351F977D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srgbClr val="2B166E"/>
                </a:solidFill>
                <a:effectLst/>
                <a:uLnTx/>
                <a:uFillTx/>
                <a:latin typeface="Roboto"/>
                <a:ea typeface="Roboto" panose="02000000000000000000" pitchFamily="2" charset="0"/>
                <a:cs typeface="+mn-cs"/>
              </a:rPr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2B166E"/>
                </a:solidFill>
                <a:effectLst/>
                <a:uLnTx/>
                <a:uFillTx/>
                <a:latin typeface="Roboto"/>
                <a:ea typeface="Roboto" panose="02000000000000000000" pitchFamily="2" charset="0"/>
                <a:cs typeface="+mn-cs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5ECAD1-D9E5-4B27-9CD2-352151CE8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60" y="1000036"/>
            <a:ext cx="5170477" cy="286704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14D0DB-19CA-F4ED-82B7-8F05479048F3}"/>
              </a:ext>
            </a:extLst>
          </p:cNvPr>
          <p:cNvCxnSpPr>
            <a:cxnSpLocks/>
          </p:cNvCxnSpPr>
          <p:nvPr/>
        </p:nvCxnSpPr>
        <p:spPr>
          <a:xfrm>
            <a:off x="5577840" y="952901"/>
            <a:ext cx="0" cy="57006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E0E0761-8466-E13C-BA97-1FB4E15824D6}"/>
              </a:ext>
            </a:extLst>
          </p:cNvPr>
          <p:cNvSpPr/>
          <p:nvPr/>
        </p:nvSpPr>
        <p:spPr>
          <a:xfrm>
            <a:off x="5881623" y="952901"/>
            <a:ext cx="5850127" cy="4934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Steps for implementation according to paper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A2F0D1-F54F-2FF6-ABAA-5ACC959F6414}"/>
              </a:ext>
            </a:extLst>
          </p:cNvPr>
          <p:cNvSpPr txBox="1"/>
          <p:nvPr/>
        </p:nvSpPr>
        <p:spPr>
          <a:xfrm>
            <a:off x="12282423" y="1708582"/>
            <a:ext cx="592328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Data Normalization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Model Definition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GP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42F2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42F2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Automatic Relevance Determination Radial Basis Function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polynomial regression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Prior Assignment: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Assign prior distributions to the hyperparameters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Loss Function Setup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Optimization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Prediction and metrics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38B6A4D-2F79-8E64-D94F-0C3D179EA1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4666" y="2475483"/>
            <a:ext cx="2638793" cy="4096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5B95595-11E5-D025-816D-2EFD7BFBC82C}"/>
              </a:ext>
            </a:extLst>
          </p:cNvPr>
          <p:cNvGrpSpPr/>
          <p:nvPr/>
        </p:nvGrpSpPr>
        <p:grpSpPr>
          <a:xfrm>
            <a:off x="5791199" y="1714500"/>
            <a:ext cx="2376173" cy="1714500"/>
            <a:chOff x="5791199" y="1714500"/>
            <a:chExt cx="2376173" cy="1930400"/>
          </a:xfrm>
        </p:grpSpPr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C0E20445-78F3-592B-59A8-95970438368A}"/>
                </a:ext>
              </a:extLst>
            </p:cNvPr>
            <p:cNvSpPr/>
            <p:nvPr/>
          </p:nvSpPr>
          <p:spPr>
            <a:xfrm>
              <a:off x="5791199" y="1714500"/>
              <a:ext cx="2376173" cy="1930400"/>
            </a:xfrm>
            <a:prstGeom prst="roundRect">
              <a:avLst>
                <a:gd name="adj" fmla="val 10044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/>
                  <a:ea typeface="+mn-ea"/>
                  <a:cs typeface="+mn-cs"/>
                </a:rPr>
                <a:t> </a:t>
              </a:r>
            </a:p>
          </p:txBody>
        </p:sp>
        <p:sp>
          <p:nvSpPr>
            <p:cNvPr id="21" name="Rectangle: Top Corners Rounded 20">
              <a:extLst>
                <a:ext uri="{FF2B5EF4-FFF2-40B4-BE49-F238E27FC236}">
                  <a16:creationId xmlns:a16="http://schemas.microsoft.com/office/drawing/2014/main" id="{B9455369-0B25-2A52-F10D-9F0E490F5B61}"/>
                </a:ext>
              </a:extLst>
            </p:cNvPr>
            <p:cNvSpPr/>
            <p:nvPr/>
          </p:nvSpPr>
          <p:spPr>
            <a:xfrm>
              <a:off x="5791200" y="1719802"/>
              <a:ext cx="2376172" cy="318548"/>
            </a:xfrm>
            <a:prstGeom prst="round2SameRect">
              <a:avLst>
                <a:gd name="adj1" fmla="val 50000"/>
                <a:gd name="adj2" fmla="val 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/>
                  <a:ea typeface="+mn-ea"/>
                  <a:cs typeface="+mn-cs"/>
                </a:rPr>
                <a:t>GP</a:t>
              </a: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C1875C8-0242-E6DC-7658-11E815DE275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380"/>
          <a:stretch>
            <a:fillRect/>
          </a:stretch>
        </p:blipFill>
        <p:spPr>
          <a:xfrm>
            <a:off x="6066277" y="2111830"/>
            <a:ext cx="1452124" cy="49345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4EC2C6E-8240-9BD0-FB2C-1D360AE600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6567"/>
          <a:stretch>
            <a:fillRect/>
          </a:stretch>
        </p:blipFill>
        <p:spPr>
          <a:xfrm>
            <a:off x="6036584" y="2543730"/>
            <a:ext cx="1820546" cy="493450"/>
          </a:xfrm>
          <a:prstGeom prst="rect">
            <a:avLst/>
          </a:prstGeom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7A260CF9-0554-1E67-4CF4-4E0C13A62305}"/>
              </a:ext>
            </a:extLst>
          </p:cNvPr>
          <p:cNvSpPr/>
          <p:nvPr/>
        </p:nvSpPr>
        <p:spPr>
          <a:xfrm>
            <a:off x="5947612" y="2387838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B261B71-65C9-ACFD-021C-59014141A573}"/>
              </a:ext>
            </a:extLst>
          </p:cNvPr>
          <p:cNvSpPr/>
          <p:nvPr/>
        </p:nvSpPr>
        <p:spPr>
          <a:xfrm>
            <a:off x="5928915" y="2793753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3F32F83-A0B8-A5E1-C3E0-A86E6359BE8C}"/>
              </a:ext>
            </a:extLst>
          </p:cNvPr>
          <p:cNvGrpSpPr/>
          <p:nvPr/>
        </p:nvGrpSpPr>
        <p:grpSpPr>
          <a:xfrm>
            <a:off x="8504807" y="1624619"/>
            <a:ext cx="3318873" cy="1913050"/>
            <a:chOff x="5791199" y="1714500"/>
            <a:chExt cx="2376173" cy="1930400"/>
          </a:xfrm>
        </p:grpSpPr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A057C437-7B76-960F-573C-1B2FCB9A0192}"/>
                </a:ext>
              </a:extLst>
            </p:cNvPr>
            <p:cNvSpPr/>
            <p:nvPr/>
          </p:nvSpPr>
          <p:spPr>
            <a:xfrm>
              <a:off x="5791199" y="1714500"/>
              <a:ext cx="2376173" cy="1930400"/>
            </a:xfrm>
            <a:prstGeom prst="roundRect">
              <a:avLst>
                <a:gd name="adj" fmla="val 10044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/>
                  <a:ea typeface="+mn-ea"/>
                  <a:cs typeface="+mn-cs"/>
                </a:rPr>
                <a:t> </a:t>
              </a:r>
            </a:p>
          </p:txBody>
        </p:sp>
        <p:sp>
          <p:nvSpPr>
            <p:cNvPr id="30" name="Rectangle: Top Corners Rounded 29">
              <a:extLst>
                <a:ext uri="{FF2B5EF4-FFF2-40B4-BE49-F238E27FC236}">
                  <a16:creationId xmlns:a16="http://schemas.microsoft.com/office/drawing/2014/main" id="{091725C4-0D13-DCBF-4190-FC3667CF90A6}"/>
                </a:ext>
              </a:extLst>
            </p:cNvPr>
            <p:cNvSpPr/>
            <p:nvPr/>
          </p:nvSpPr>
          <p:spPr>
            <a:xfrm>
              <a:off x="5791200" y="1719802"/>
              <a:ext cx="2376172" cy="318548"/>
            </a:xfrm>
            <a:prstGeom prst="round2SameRect">
              <a:avLst>
                <a:gd name="adj1" fmla="val 50000"/>
                <a:gd name="adj2" fmla="val 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/>
                  <a:ea typeface="+mn-ea"/>
                  <a:cs typeface="+mn-cs"/>
                </a:rPr>
                <a:t>ARD-RBF Kernel</a:t>
              </a: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E6FBAC34-942E-0190-13A4-6A6F3F99A9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5293" y="2027745"/>
            <a:ext cx="2857899" cy="1305107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F1A4E44-0B23-A04C-005D-26F487D295CE}"/>
              </a:ext>
            </a:extLst>
          </p:cNvPr>
          <p:cNvGrpSpPr/>
          <p:nvPr/>
        </p:nvGrpSpPr>
        <p:grpSpPr>
          <a:xfrm>
            <a:off x="5788462" y="3765550"/>
            <a:ext cx="2716341" cy="1925830"/>
            <a:chOff x="5791199" y="1714500"/>
            <a:chExt cx="2376173" cy="1930400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3FC33885-F251-D4EC-87C1-D7D7774FC120}"/>
                </a:ext>
              </a:extLst>
            </p:cNvPr>
            <p:cNvSpPr/>
            <p:nvPr/>
          </p:nvSpPr>
          <p:spPr>
            <a:xfrm>
              <a:off x="5791199" y="1714500"/>
              <a:ext cx="2376173" cy="1930400"/>
            </a:xfrm>
            <a:prstGeom prst="roundRect">
              <a:avLst>
                <a:gd name="adj" fmla="val 10044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/>
                  <a:ea typeface="+mn-ea"/>
                  <a:cs typeface="+mn-cs"/>
                </a:rPr>
                <a:t> </a:t>
              </a:r>
            </a:p>
          </p:txBody>
        </p:sp>
        <p:sp>
          <p:nvSpPr>
            <p:cNvPr id="35" name="Rectangle: Top Corners Rounded 34">
              <a:extLst>
                <a:ext uri="{FF2B5EF4-FFF2-40B4-BE49-F238E27FC236}">
                  <a16:creationId xmlns:a16="http://schemas.microsoft.com/office/drawing/2014/main" id="{33ED6C8D-8C99-8BBF-E5F0-D7704B38323E}"/>
                </a:ext>
              </a:extLst>
            </p:cNvPr>
            <p:cNvSpPr/>
            <p:nvPr/>
          </p:nvSpPr>
          <p:spPr>
            <a:xfrm>
              <a:off x="5791200" y="1719802"/>
              <a:ext cx="2376172" cy="318548"/>
            </a:xfrm>
            <a:prstGeom prst="round2SameRect">
              <a:avLst>
                <a:gd name="adj1" fmla="val 50000"/>
                <a:gd name="adj2" fmla="val 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/>
                  <a:ea typeface="+mn-ea"/>
                  <a:cs typeface="+mn-cs"/>
                </a:rPr>
                <a:t>Polynomial Regression</a:t>
              </a:r>
            </a:p>
          </p:txBody>
        </p: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EFDEAC81-F60D-6977-6DFA-2507BE1A485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1937"/>
          <a:stretch>
            <a:fillRect/>
          </a:stretch>
        </p:blipFill>
        <p:spPr>
          <a:xfrm>
            <a:off x="6394016" y="4288535"/>
            <a:ext cx="1826884" cy="107647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CE1C12C-37B9-3035-5801-DD66AD82F0D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092" r="85489"/>
          <a:stretch>
            <a:fillRect/>
          </a:stretch>
        </p:blipFill>
        <p:spPr>
          <a:xfrm>
            <a:off x="5947612" y="4288535"/>
            <a:ext cx="434066" cy="1076475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92397E-495B-841E-1B12-636EF9E8AED0}"/>
              </a:ext>
            </a:extLst>
          </p:cNvPr>
          <p:cNvSpPr txBox="1"/>
          <p:nvPr/>
        </p:nvSpPr>
        <p:spPr>
          <a:xfrm>
            <a:off x="5577839" y="5770458"/>
            <a:ext cx="33188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D8D6D6">
                    <a:lumMod val="50000"/>
                  </a:srgbClr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The paper also describes steps for multi-dimensional input cases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D686112-E8BD-2884-EEAB-A402A949A3E7}"/>
              </a:ext>
            </a:extLst>
          </p:cNvPr>
          <p:cNvCxnSpPr/>
          <p:nvPr/>
        </p:nvCxnSpPr>
        <p:spPr>
          <a:xfrm>
            <a:off x="6975834" y="2981131"/>
            <a:ext cx="70701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06BF1030-5439-572B-2B2A-9D153345FD70}"/>
              </a:ext>
            </a:extLst>
          </p:cNvPr>
          <p:cNvSpPr txBox="1"/>
          <p:nvPr/>
        </p:nvSpPr>
        <p:spPr>
          <a:xfrm>
            <a:off x="5829841" y="3099207"/>
            <a:ext cx="2291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Location dependent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A42159B-EFFA-352F-63AA-BD068BD7DC5F}"/>
              </a:ext>
            </a:extLst>
          </p:cNvPr>
          <p:cNvCxnSpPr>
            <a:cxnSpLocks/>
          </p:cNvCxnSpPr>
          <p:nvPr/>
        </p:nvCxnSpPr>
        <p:spPr>
          <a:xfrm flipV="1">
            <a:off x="7329339" y="3007519"/>
            <a:ext cx="0" cy="16748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144C66D-1EB4-77D6-17B7-4CC939B46420}"/>
              </a:ext>
            </a:extLst>
          </p:cNvPr>
          <p:cNvGrpSpPr/>
          <p:nvPr/>
        </p:nvGrpSpPr>
        <p:grpSpPr>
          <a:xfrm>
            <a:off x="8679643" y="3765550"/>
            <a:ext cx="3144037" cy="1925830"/>
            <a:chOff x="5791199" y="1714500"/>
            <a:chExt cx="2376173" cy="1930400"/>
          </a:xfrm>
        </p:grpSpPr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A8C2EBCE-B93A-6CDF-25B5-B79CBEA6146D}"/>
                </a:ext>
              </a:extLst>
            </p:cNvPr>
            <p:cNvSpPr/>
            <p:nvPr/>
          </p:nvSpPr>
          <p:spPr>
            <a:xfrm>
              <a:off x="5791199" y="1714500"/>
              <a:ext cx="2376173" cy="1930400"/>
            </a:xfrm>
            <a:prstGeom prst="roundRect">
              <a:avLst>
                <a:gd name="adj" fmla="val 10044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/>
                  <a:ea typeface="+mn-ea"/>
                  <a:cs typeface="+mn-cs"/>
                </a:rPr>
                <a:t> </a:t>
              </a:r>
            </a:p>
          </p:txBody>
        </p:sp>
        <p:sp>
          <p:nvSpPr>
            <p:cNvPr id="50" name="Rectangle: Top Corners Rounded 49">
              <a:extLst>
                <a:ext uri="{FF2B5EF4-FFF2-40B4-BE49-F238E27FC236}">
                  <a16:creationId xmlns:a16="http://schemas.microsoft.com/office/drawing/2014/main" id="{FF8F2BE4-5FD0-B77D-3B73-4F3CF13499A2}"/>
                </a:ext>
              </a:extLst>
            </p:cNvPr>
            <p:cNvSpPr/>
            <p:nvPr/>
          </p:nvSpPr>
          <p:spPr>
            <a:xfrm>
              <a:off x="5791200" y="1719802"/>
              <a:ext cx="2376172" cy="318548"/>
            </a:xfrm>
            <a:prstGeom prst="round2SameRect">
              <a:avLst>
                <a:gd name="adj1" fmla="val 50000"/>
                <a:gd name="adj2" fmla="val 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Roboto"/>
                  <a:ea typeface="+mn-ea"/>
                  <a:cs typeface="+mn-cs"/>
                </a:rPr>
                <a:t>MAP Loss</a:t>
              </a:r>
            </a:p>
          </p:txBody>
        </p:sp>
      </p:grpSp>
      <p:pic>
        <p:nvPicPr>
          <p:cNvPr id="52" name="Picture 51">
            <a:extLst>
              <a:ext uri="{FF2B5EF4-FFF2-40B4-BE49-F238E27FC236}">
                <a16:creationId xmlns:a16="http://schemas.microsoft.com/office/drawing/2014/main" id="{802F841B-035F-250D-FD30-7F47A904E3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7321" y="4482838"/>
            <a:ext cx="2904429" cy="72878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2C6A2CC-8B75-5069-3488-BD9DB2BB1FD0}"/>
              </a:ext>
            </a:extLst>
          </p:cNvPr>
          <p:cNvGrpSpPr/>
          <p:nvPr/>
        </p:nvGrpSpPr>
        <p:grpSpPr>
          <a:xfrm>
            <a:off x="62669" y="4430687"/>
            <a:ext cx="5438821" cy="1731264"/>
            <a:chOff x="6204539" y="4608576"/>
            <a:chExt cx="5438821" cy="1731264"/>
          </a:xfrm>
        </p:grpSpPr>
        <p:sp>
          <p:nvSpPr>
            <p:cNvPr id="5" name="Shape 37">
              <a:extLst>
                <a:ext uri="{FF2B5EF4-FFF2-40B4-BE49-F238E27FC236}">
                  <a16:creationId xmlns:a16="http://schemas.microsoft.com/office/drawing/2014/main" id="{B6AD1145-B115-7DB1-D5D9-9201C603338A}"/>
                </a:ext>
              </a:extLst>
            </p:cNvPr>
            <p:cNvSpPr/>
            <p:nvPr/>
          </p:nvSpPr>
          <p:spPr>
            <a:xfrm>
              <a:off x="6204539" y="4608576"/>
              <a:ext cx="5379551" cy="1731264"/>
            </a:xfrm>
            <a:prstGeom prst="rect">
              <a:avLst/>
            </a:prstGeom>
            <a:solidFill>
              <a:srgbClr val="F9F9F9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endParaRPr>
            </a:p>
          </p:txBody>
        </p:sp>
        <p:sp>
          <p:nvSpPr>
            <p:cNvPr id="6" name="Shape 38">
              <a:extLst>
                <a:ext uri="{FF2B5EF4-FFF2-40B4-BE49-F238E27FC236}">
                  <a16:creationId xmlns:a16="http://schemas.microsoft.com/office/drawing/2014/main" id="{9C71B8E7-DDA5-3FF7-1F54-56041CFB6CB7}"/>
                </a:ext>
              </a:extLst>
            </p:cNvPr>
            <p:cNvSpPr/>
            <p:nvPr/>
          </p:nvSpPr>
          <p:spPr>
            <a:xfrm>
              <a:off x="6217920" y="4608576"/>
              <a:ext cx="85344" cy="1731264"/>
            </a:xfrm>
            <a:prstGeom prst="rect">
              <a:avLst/>
            </a:prstGeom>
            <a:solidFill>
              <a:srgbClr val="E36C09"/>
            </a:solidFill>
            <a:ln w="12700">
              <a:solidFill>
                <a:srgbClr val="E36C09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endParaRPr>
            </a:p>
          </p:txBody>
        </p:sp>
        <p:sp>
          <p:nvSpPr>
            <p:cNvPr id="7" name="Text 39">
              <a:extLst>
                <a:ext uri="{FF2B5EF4-FFF2-40B4-BE49-F238E27FC236}">
                  <a16:creationId xmlns:a16="http://schemas.microsoft.com/office/drawing/2014/main" id="{E770BF99-9B2C-F590-AA27-E4D83B5DBFE2}"/>
                </a:ext>
              </a:extLst>
            </p:cNvPr>
            <p:cNvSpPr/>
            <p:nvPr/>
          </p:nvSpPr>
          <p:spPr>
            <a:xfrm>
              <a:off x="6400800" y="4657344"/>
              <a:ext cx="524256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67" b="1" i="0" u="none" strike="noStrike" kern="1200" cap="none" spc="0" normalizeH="0" baseline="0" noProof="0">
                  <a:ln>
                    <a:noFill/>
                  </a:ln>
                  <a:solidFill>
                    <a:srgbClr val="E36C09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difference from noise-free GP</a:t>
              </a:r>
              <a:endPara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endParaRPr>
            </a:p>
          </p:txBody>
        </p:sp>
        <p:sp>
          <p:nvSpPr>
            <p:cNvPr id="9" name="Text 40">
              <a:extLst>
                <a:ext uri="{FF2B5EF4-FFF2-40B4-BE49-F238E27FC236}">
                  <a16:creationId xmlns:a16="http://schemas.microsoft.com/office/drawing/2014/main" id="{F49CDF19-EEFD-B6C7-DB39-2EFB398B6C66}"/>
                </a:ext>
              </a:extLst>
            </p:cNvPr>
            <p:cNvSpPr/>
            <p:nvPr/>
          </p:nvSpPr>
          <p:spPr>
            <a:xfrm>
              <a:off x="6400800" y="4974336"/>
              <a:ext cx="5242560" cy="8778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σ²(X)</a:t>
              </a: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is no longer a single scalar constant,  it is a </a:t>
              </a:r>
              <a:r>
                <a:rPr kumimoji="0" 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1F3864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polynomial function of the inputs</a:t>
              </a: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595959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, learned jointly with the GP kernel hyperparameters via MAP estimation.</a:t>
              </a: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92956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12C4B-2B47-8B88-117B-9FCE67562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BFF56-8489-DB6B-1B52-D9252FA3F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 function and heteroscedastic noise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1E6EDF-2273-C354-4DA1-819B13F108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294AF64-FC92-4E4E-9E42-CF08351F977D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srgbClr val="2B166E"/>
                </a:solidFill>
                <a:effectLst/>
                <a:uLnTx/>
                <a:uFillTx/>
                <a:latin typeface="Roboto"/>
                <a:ea typeface="Roboto" panose="02000000000000000000" pitchFamily="2" charset="0"/>
                <a:cs typeface="+mn-cs"/>
              </a:rPr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2B166E"/>
                </a:solidFill>
                <a:effectLst/>
                <a:uLnTx/>
                <a:uFillTx/>
                <a:latin typeface="Roboto"/>
                <a:ea typeface="Roboto" panose="02000000000000000000" pitchFamily="2" charset="0"/>
                <a:cs typeface="+mn-cs"/>
              </a:rPr>
              <a:t> </a:t>
            </a:r>
          </a:p>
        </p:txBody>
      </p:sp>
      <p:pic>
        <p:nvPicPr>
          <p:cNvPr id="6" name="圖片 4">
            <a:extLst>
              <a:ext uri="{FF2B5EF4-FFF2-40B4-BE49-F238E27FC236}">
                <a16:creationId xmlns:a16="http://schemas.microsoft.com/office/drawing/2014/main" id="{20523EBD-1D1B-4DB8-219F-C260826A5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8922" y="866769"/>
            <a:ext cx="9027729" cy="751173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60844EA-1F3F-4BFB-E648-11E8D4B810D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7839"/>
          <a:stretch/>
        </p:blipFill>
        <p:spPr>
          <a:xfrm>
            <a:off x="3604172" y="1882654"/>
            <a:ext cx="2010196" cy="404297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D1614DD8-D621-0358-7731-D588C31B316D}"/>
              </a:ext>
            </a:extLst>
          </p:cNvPr>
          <p:cNvSpPr txBox="1"/>
          <p:nvPr/>
        </p:nvSpPr>
        <p:spPr>
          <a:xfrm>
            <a:off x="520127" y="1835131"/>
            <a:ext cx="33306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28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1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Quantitative Variable:</a:t>
            </a:r>
            <a:endParaRPr kumimoji="0" lang="zh-TW" altLang="en-US" sz="2400" b="1" i="0" u="none" strike="noStrike" kern="1200" cap="none" spc="0" normalizeH="0" baseline="0" noProof="0">
              <a:ln>
                <a:noFill/>
              </a:ln>
              <a:solidFill>
                <a:srgbClr val="342F2E"/>
              </a:solidFill>
              <a:effectLst/>
              <a:uLnTx/>
              <a:uFillTx/>
              <a:latin typeface="Roboto" panose="02000000000000000000" pitchFamily="2" charset="0"/>
              <a:ea typeface="+mn-ea"/>
              <a:cs typeface="Roboto" panose="02000000000000000000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0159A9F-2DED-D49E-A52D-4CFD8EF57D62}"/>
              </a:ext>
            </a:extLst>
          </p:cNvPr>
          <p:cNvSpPr txBox="1"/>
          <p:nvPr/>
        </p:nvSpPr>
        <p:spPr>
          <a:xfrm>
            <a:off x="5838688" y="1847831"/>
            <a:ext cx="32475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28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1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Qualitative Variable:</a:t>
            </a:r>
            <a:endParaRPr kumimoji="0" lang="zh-TW" altLang="en-US" sz="2400" b="1" i="0" u="none" strike="noStrike" kern="1200" cap="none" spc="0" normalizeH="0" baseline="0" noProof="0">
              <a:ln>
                <a:noFill/>
              </a:ln>
              <a:solidFill>
                <a:srgbClr val="342F2E"/>
              </a:solidFill>
              <a:effectLst/>
              <a:uLnTx/>
              <a:uFillTx/>
              <a:latin typeface="Roboto" panose="02000000000000000000" pitchFamily="2" charset="0"/>
              <a:ea typeface="+mn-ea"/>
              <a:cs typeface="Roboto" panose="02000000000000000000" pitchFamily="2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D80D839-0914-D8EA-754E-E8A5ECEC24E9}"/>
              </a:ext>
            </a:extLst>
          </p:cNvPr>
          <p:cNvGrpSpPr/>
          <p:nvPr/>
        </p:nvGrpSpPr>
        <p:grpSpPr>
          <a:xfrm>
            <a:off x="8782849" y="1885931"/>
            <a:ext cx="2953088" cy="1072361"/>
            <a:chOff x="7636254" y="2719883"/>
            <a:chExt cx="2953088" cy="1072361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0ED0F0E1-7DB2-4617-F1AC-5BB41A3F95C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4342"/>
            <a:stretch/>
          </p:blipFill>
          <p:spPr>
            <a:xfrm>
              <a:off x="7636254" y="2719883"/>
              <a:ext cx="2884579" cy="439469"/>
            </a:xfrm>
            <a:prstGeom prst="rect">
              <a:avLst/>
            </a:prstGeom>
          </p:spPr>
        </p:pic>
        <p:cxnSp>
          <p:nvCxnSpPr>
            <p:cNvPr id="11" name="直線單箭頭接點 11">
              <a:extLst>
                <a:ext uri="{FF2B5EF4-FFF2-40B4-BE49-F238E27FC236}">
                  <a16:creationId xmlns:a16="http://schemas.microsoft.com/office/drawing/2014/main" id="{279DF333-D5AF-E965-148F-C5DE8A18A5D7}"/>
                </a:ext>
              </a:extLst>
            </p:cNvPr>
            <p:cNvCxnSpPr>
              <a:cxnSpLocks/>
            </p:cNvCxnSpPr>
            <p:nvPr/>
          </p:nvCxnSpPr>
          <p:spPr>
            <a:xfrm>
              <a:off x="8862073" y="3186084"/>
              <a:ext cx="0" cy="225220"/>
            </a:xfrm>
            <a:prstGeom prst="straightConnector1">
              <a:avLst/>
            </a:prstGeom>
            <a:ln w="2857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單箭頭接點 12">
              <a:extLst>
                <a:ext uri="{FF2B5EF4-FFF2-40B4-BE49-F238E27FC236}">
                  <a16:creationId xmlns:a16="http://schemas.microsoft.com/office/drawing/2014/main" id="{48BE6BF1-1064-0F73-3C0D-669E8E9F5380}"/>
                </a:ext>
              </a:extLst>
            </p:cNvPr>
            <p:cNvCxnSpPr>
              <a:cxnSpLocks/>
            </p:cNvCxnSpPr>
            <p:nvPr/>
          </p:nvCxnSpPr>
          <p:spPr>
            <a:xfrm>
              <a:off x="9201227" y="3186084"/>
              <a:ext cx="0" cy="225220"/>
            </a:xfrm>
            <a:prstGeom prst="straightConnector1">
              <a:avLst/>
            </a:prstGeom>
            <a:ln w="2857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單箭頭接點 13">
              <a:extLst>
                <a:ext uri="{FF2B5EF4-FFF2-40B4-BE49-F238E27FC236}">
                  <a16:creationId xmlns:a16="http://schemas.microsoft.com/office/drawing/2014/main" id="{2D7D795B-B65D-7238-D2A2-1381213456CB}"/>
                </a:ext>
              </a:extLst>
            </p:cNvPr>
            <p:cNvCxnSpPr>
              <a:cxnSpLocks/>
            </p:cNvCxnSpPr>
            <p:nvPr/>
          </p:nvCxnSpPr>
          <p:spPr>
            <a:xfrm>
              <a:off x="9540381" y="3186084"/>
              <a:ext cx="0" cy="225220"/>
            </a:xfrm>
            <a:prstGeom prst="straightConnector1">
              <a:avLst/>
            </a:prstGeom>
            <a:ln w="2857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單箭頭接點 14">
              <a:extLst>
                <a:ext uri="{FF2B5EF4-FFF2-40B4-BE49-F238E27FC236}">
                  <a16:creationId xmlns:a16="http://schemas.microsoft.com/office/drawing/2014/main" id="{12E3AB60-8CB1-4841-DA4A-5655692BB151}"/>
                </a:ext>
              </a:extLst>
            </p:cNvPr>
            <p:cNvCxnSpPr>
              <a:cxnSpLocks/>
            </p:cNvCxnSpPr>
            <p:nvPr/>
          </p:nvCxnSpPr>
          <p:spPr>
            <a:xfrm>
              <a:off x="9879536" y="3186084"/>
              <a:ext cx="0" cy="225220"/>
            </a:xfrm>
            <a:prstGeom prst="straightConnector1">
              <a:avLst/>
            </a:prstGeom>
            <a:ln w="2857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5">
              <a:extLst>
                <a:ext uri="{FF2B5EF4-FFF2-40B4-BE49-F238E27FC236}">
                  <a16:creationId xmlns:a16="http://schemas.microsoft.com/office/drawing/2014/main" id="{80D755BD-6E54-0753-92B7-FC6DA9CC46C7}"/>
                </a:ext>
              </a:extLst>
            </p:cNvPr>
            <p:cNvCxnSpPr>
              <a:cxnSpLocks/>
            </p:cNvCxnSpPr>
            <p:nvPr/>
          </p:nvCxnSpPr>
          <p:spPr>
            <a:xfrm>
              <a:off x="10218690" y="3186084"/>
              <a:ext cx="0" cy="225220"/>
            </a:xfrm>
            <a:prstGeom prst="straightConnector1">
              <a:avLst/>
            </a:prstGeom>
            <a:ln w="2857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字方塊 16">
              <a:extLst>
                <a:ext uri="{FF2B5EF4-FFF2-40B4-BE49-F238E27FC236}">
                  <a16:creationId xmlns:a16="http://schemas.microsoft.com/office/drawing/2014/main" id="{AB0D1E00-FE3E-713F-596E-E7D25D210DD6}"/>
                </a:ext>
              </a:extLst>
            </p:cNvPr>
            <p:cNvSpPr txBox="1"/>
            <p:nvPr/>
          </p:nvSpPr>
          <p:spPr>
            <a:xfrm>
              <a:off x="8613588" y="3420893"/>
              <a:ext cx="5963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281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1" i="0" u="none" strike="noStrike" kern="1200" cap="none" spc="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15</a:t>
              </a:r>
              <a:endParaRPr kumimoji="0" lang="zh-TW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Roboto" panose="02000000000000000000" pitchFamily="2" charset="0"/>
                <a:ea typeface="+mn-ea"/>
                <a:cs typeface="Roboto" panose="02000000000000000000" pitchFamily="2" charset="0"/>
              </a:endParaRPr>
            </a:p>
          </p:txBody>
        </p:sp>
        <p:sp>
          <p:nvSpPr>
            <p:cNvPr id="17" name="文字方塊 17">
              <a:extLst>
                <a:ext uri="{FF2B5EF4-FFF2-40B4-BE49-F238E27FC236}">
                  <a16:creationId xmlns:a16="http://schemas.microsoft.com/office/drawing/2014/main" id="{0F49D36F-1287-5A28-A164-29660220015A}"/>
                </a:ext>
              </a:extLst>
            </p:cNvPr>
            <p:cNvSpPr txBox="1"/>
            <p:nvPr/>
          </p:nvSpPr>
          <p:spPr>
            <a:xfrm>
              <a:off x="9069353" y="3420893"/>
              <a:ext cx="4296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281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1" i="0" u="none" strike="noStrike" kern="1200" cap="none" spc="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2</a:t>
              </a:r>
              <a:endParaRPr kumimoji="0" lang="zh-TW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Roboto" panose="02000000000000000000" pitchFamily="2" charset="0"/>
                <a:ea typeface="+mn-ea"/>
                <a:cs typeface="Roboto" panose="02000000000000000000" pitchFamily="2" charset="0"/>
              </a:endParaRPr>
            </a:p>
          </p:txBody>
        </p:sp>
        <p:sp>
          <p:nvSpPr>
            <p:cNvPr id="18" name="文字方塊 18">
              <a:extLst>
                <a:ext uri="{FF2B5EF4-FFF2-40B4-BE49-F238E27FC236}">
                  <a16:creationId xmlns:a16="http://schemas.microsoft.com/office/drawing/2014/main" id="{C4270A57-BB0F-A982-9533-99C61AE21ABF}"/>
                </a:ext>
              </a:extLst>
            </p:cNvPr>
            <p:cNvSpPr txBox="1"/>
            <p:nvPr/>
          </p:nvSpPr>
          <p:spPr>
            <a:xfrm>
              <a:off x="9386649" y="3420893"/>
              <a:ext cx="4296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281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1" i="0" u="none" strike="noStrike" kern="1200" cap="none" spc="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8</a:t>
              </a:r>
              <a:endParaRPr kumimoji="0" lang="zh-TW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Roboto" panose="02000000000000000000" pitchFamily="2" charset="0"/>
                <a:ea typeface="+mn-ea"/>
                <a:cs typeface="Roboto" panose="02000000000000000000" pitchFamily="2" charset="0"/>
              </a:endParaRPr>
            </a:p>
          </p:txBody>
        </p:sp>
        <p:sp>
          <p:nvSpPr>
            <p:cNvPr id="19" name="文字方塊 19">
              <a:extLst>
                <a:ext uri="{FF2B5EF4-FFF2-40B4-BE49-F238E27FC236}">
                  <a16:creationId xmlns:a16="http://schemas.microsoft.com/office/drawing/2014/main" id="{CCB37C4D-344D-C72A-DA48-125470E09D74}"/>
                </a:ext>
              </a:extLst>
            </p:cNvPr>
            <p:cNvSpPr txBox="1"/>
            <p:nvPr/>
          </p:nvSpPr>
          <p:spPr>
            <a:xfrm>
              <a:off x="9729381" y="3420893"/>
              <a:ext cx="4296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281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1" i="0" u="none" strike="noStrike" kern="1200" cap="none" spc="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0</a:t>
              </a:r>
              <a:endParaRPr kumimoji="0" lang="zh-TW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Roboto" panose="02000000000000000000" pitchFamily="2" charset="0"/>
                <a:ea typeface="+mn-ea"/>
                <a:cs typeface="Roboto" panose="02000000000000000000" pitchFamily="2" charset="0"/>
              </a:endParaRPr>
            </a:p>
          </p:txBody>
        </p:sp>
        <p:sp>
          <p:nvSpPr>
            <p:cNvPr id="20" name="文字方塊 20">
              <a:extLst>
                <a:ext uri="{FF2B5EF4-FFF2-40B4-BE49-F238E27FC236}">
                  <a16:creationId xmlns:a16="http://schemas.microsoft.com/office/drawing/2014/main" id="{06DDCAAF-CE12-061C-8564-129B031799EA}"/>
                </a:ext>
              </a:extLst>
            </p:cNvPr>
            <p:cNvSpPr txBox="1"/>
            <p:nvPr/>
          </p:nvSpPr>
          <p:spPr>
            <a:xfrm>
              <a:off x="9992994" y="3422912"/>
              <a:ext cx="5963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281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1" i="0" u="none" strike="noStrike" kern="1200" cap="none" spc="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10</a:t>
              </a:r>
              <a:endParaRPr kumimoji="0" lang="zh-TW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Roboto" panose="02000000000000000000" pitchFamily="2" charset="0"/>
                <a:ea typeface="+mn-ea"/>
                <a:cs typeface="Roboto" panose="02000000000000000000" pitchFamily="2" charset="0"/>
              </a:endParaRPr>
            </a:p>
          </p:txBody>
        </p:sp>
      </p:grpSp>
      <p:sp>
        <p:nvSpPr>
          <p:cNvPr id="21" name="文字方塊 21">
            <a:extLst>
              <a:ext uri="{FF2B5EF4-FFF2-40B4-BE49-F238E27FC236}">
                <a16:creationId xmlns:a16="http://schemas.microsoft.com/office/drawing/2014/main" id="{D74BC571-9E1B-9E19-84FD-A2F6C2ED3C6E}"/>
              </a:ext>
            </a:extLst>
          </p:cNvPr>
          <p:cNvSpPr txBox="1"/>
          <p:nvPr/>
        </p:nvSpPr>
        <p:spPr>
          <a:xfrm>
            <a:off x="520127" y="2765719"/>
            <a:ext cx="44597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28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1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Training samples be like:</a:t>
            </a:r>
            <a:endParaRPr kumimoji="0" lang="zh-TW" altLang="en-US" sz="2400" b="1" i="0" u="none" strike="noStrike" kern="1200" cap="none" spc="0" normalizeH="0" baseline="0" noProof="0">
              <a:ln>
                <a:noFill/>
              </a:ln>
              <a:solidFill>
                <a:srgbClr val="342F2E"/>
              </a:solidFill>
              <a:effectLst/>
              <a:uLnTx/>
              <a:uFillTx/>
              <a:latin typeface="Roboto" panose="02000000000000000000" pitchFamily="2" charset="0"/>
              <a:ea typeface="+mn-ea"/>
              <a:cs typeface="Roboto" panose="0200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4D461-17A5-70C8-11DC-C8578EFF000C}"/>
              </a:ext>
            </a:extLst>
          </p:cNvPr>
          <p:cNvSpPr txBox="1"/>
          <p:nvPr/>
        </p:nvSpPr>
        <p:spPr>
          <a:xfrm>
            <a:off x="520127" y="1022399"/>
            <a:ext cx="2229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28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pitchFamily="2" charset="0"/>
                <a:ea typeface="+mn-ea"/>
                <a:cs typeface="+mn-cs"/>
              </a:rPr>
              <a:t>True function:</a:t>
            </a:r>
          </a:p>
        </p:txBody>
      </p:sp>
      <p:pic>
        <p:nvPicPr>
          <p:cNvPr id="25" name="Graphic 24">
            <a:extLst>
              <a:ext uri="{FF2B5EF4-FFF2-40B4-BE49-F238E27FC236}">
                <a16:creationId xmlns:a16="http://schemas.microsoft.com/office/drawing/2014/main" id="{B137B19A-8289-2EDB-B23B-E5D134B000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98349" y="2792392"/>
            <a:ext cx="3888731" cy="4083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4176697-9A19-2390-DEA1-ED2264199FB2}"/>
                  </a:ext>
                </a:extLst>
              </p:cNvPr>
              <p:cNvSpPr txBox="1"/>
              <p:nvPr/>
            </p:nvSpPr>
            <p:spPr>
              <a:xfrm>
                <a:off x="8254086" y="2831377"/>
                <a:ext cx="3398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2813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⋯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Roboto" panose="02000000000000000000" pitchFamily="2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4176697-9A19-2390-DEA1-ED2264199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4086" y="2831377"/>
                <a:ext cx="339837" cy="369332"/>
              </a:xfrm>
              <a:prstGeom prst="rect">
                <a:avLst/>
              </a:prstGeom>
              <a:blipFill>
                <a:blip r:embed="rId5"/>
                <a:stretch>
                  <a:fillRect l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Graphic 26">
            <a:extLst>
              <a:ext uri="{FF2B5EF4-FFF2-40B4-BE49-F238E27FC236}">
                <a16:creationId xmlns:a16="http://schemas.microsoft.com/office/drawing/2014/main" id="{F102E78B-D3BA-CD36-4E7D-5F54EFFDBE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49986" y="4149061"/>
            <a:ext cx="6355598" cy="7988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1CE62F0-115F-3435-EBE4-C4FC6912BE45}"/>
                  </a:ext>
                </a:extLst>
              </p:cNvPr>
              <p:cNvSpPr txBox="1"/>
              <p:nvPr/>
            </p:nvSpPr>
            <p:spPr>
              <a:xfrm>
                <a:off x="802839" y="4976150"/>
                <a:ext cx="1072351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2813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Roboto" panose="02000000000000000000" pitchFamily="2" charset="0"/>
                    <a:ea typeface="+mn-ea"/>
                    <a:cs typeface="+mn-cs"/>
                  </a:rPr>
                  <a:t>where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  <m:d>
                      <m:dPr>
                        <m:ctrlPr>
                          <a:rPr kumimoji="0" lang="en-US" sz="2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kumimoji="0" lang="en-US" sz="24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∈{10.0, 7.0, 9.0, 5.0, 12.0}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Roboto" panose="02000000000000000000" pitchFamily="2" charset="0"/>
                    <a:ea typeface="+mn-ea"/>
                    <a:cs typeface="+mn-cs"/>
                  </a:rPr>
                  <a:t> corresponds to the qualitative levels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𝑥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endPara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Roboto" panose="02000000000000000000" pitchFamily="2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1CE62F0-115F-3435-EBE4-C4FC6912BE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839" y="4976150"/>
                <a:ext cx="10723513" cy="461665"/>
              </a:xfrm>
              <a:prstGeom prst="rect">
                <a:avLst/>
              </a:prstGeom>
              <a:blipFill>
                <a:blip r:embed="rId7"/>
                <a:stretch>
                  <a:fillRect l="-910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Graphic 28">
            <a:extLst>
              <a:ext uri="{FF2B5EF4-FFF2-40B4-BE49-F238E27FC236}">
                <a16:creationId xmlns:a16="http://schemas.microsoft.com/office/drawing/2014/main" id="{A6E423C2-B57B-57EC-CFDC-E9D3BAD189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49735" y="5803525"/>
            <a:ext cx="9380896" cy="407865"/>
          </a:xfrm>
          <a:prstGeom prst="rect">
            <a:avLst/>
          </a:prstGeom>
        </p:spPr>
      </p:pic>
      <p:sp>
        <p:nvSpPr>
          <p:cNvPr id="32" name="文字方塊 21">
            <a:extLst>
              <a:ext uri="{FF2B5EF4-FFF2-40B4-BE49-F238E27FC236}">
                <a16:creationId xmlns:a16="http://schemas.microsoft.com/office/drawing/2014/main" id="{34E67024-D37F-CC36-AE74-73F1A17636C8}"/>
              </a:ext>
            </a:extLst>
          </p:cNvPr>
          <p:cNvSpPr txBox="1"/>
          <p:nvPr/>
        </p:nvSpPr>
        <p:spPr>
          <a:xfrm>
            <a:off x="520127" y="3570333"/>
            <a:ext cx="44597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281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1" i="0" u="none" strike="noStrike" kern="1200" cap="none" spc="0" normalizeH="0" baseline="0" noProof="0">
                <a:ln>
                  <a:noFill/>
                </a:ln>
                <a:solidFill>
                  <a:srgbClr val="342F2E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Heteroscedastic noise model:</a:t>
            </a:r>
            <a:endParaRPr kumimoji="0" lang="zh-TW" altLang="en-US" sz="2400" b="1" i="0" u="none" strike="noStrike" kern="1200" cap="none" spc="0" normalizeH="0" baseline="0" noProof="0">
              <a:ln>
                <a:noFill/>
              </a:ln>
              <a:solidFill>
                <a:srgbClr val="342F2E"/>
              </a:solidFill>
              <a:effectLst/>
              <a:uLnTx/>
              <a:uFillTx/>
              <a:latin typeface="Roboto" panose="02000000000000000000" pitchFamily="2" charset="0"/>
              <a:ea typeface="+mn-ea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7281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2DB9A-30F2-4CDB-9DDE-7971C7A11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D0CD83A-9233-E3D9-4D10-B3D21DCBF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</a:rPr>
              <a:t>Experiment 1 - replicated samples (5 sites x 10 reps per level)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860C58F-25F3-3FF0-7B8A-0025C61D5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" y="1143349"/>
            <a:ext cx="12142123" cy="45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728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21693-8702-8C7F-8D3B-C5046B5A2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65FCE6C-CC64-7268-D5F7-D267FB78A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"/>
            <a:r>
              <a:rPr lang="en-US" dirty="0">
                <a:latin typeface="Calibri" panose="020F0502020204030204" pitchFamily="34" charset="0"/>
              </a:rPr>
              <a:t>Experiment 1 - replicated samples (5 sites x 10 reps per level)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BE33808-2AB8-9479-344C-98E8D7A44F78}"/>
              </a:ext>
            </a:extLst>
          </p:cNvPr>
          <p:cNvGraphicFramePr>
            <a:graphicFrameLocks noGrp="1"/>
          </p:cNvGraphicFramePr>
          <p:nvPr/>
        </p:nvGraphicFramePr>
        <p:xfrm>
          <a:off x="267285" y="1252024"/>
          <a:ext cx="11465169" cy="3235568"/>
        </p:xfrm>
        <a:graphic>
          <a:graphicData uri="http://schemas.openxmlformats.org/drawingml/2006/table">
            <a:tbl>
              <a:tblPr/>
              <a:tblGrid>
                <a:gridCol w="1023677">
                  <a:extLst>
                    <a:ext uri="{9D8B030D-6E8A-4147-A177-3AD203B41FA5}">
                      <a16:colId xmlns:a16="http://schemas.microsoft.com/office/drawing/2014/main" val="362178612"/>
                    </a:ext>
                  </a:extLst>
                </a:gridCol>
                <a:gridCol w="1438641">
                  <a:extLst>
                    <a:ext uri="{9D8B030D-6E8A-4147-A177-3AD203B41FA5}">
                      <a16:colId xmlns:a16="http://schemas.microsoft.com/office/drawing/2014/main" val="1846330282"/>
                    </a:ext>
                  </a:extLst>
                </a:gridCol>
                <a:gridCol w="1231159">
                  <a:extLst>
                    <a:ext uri="{9D8B030D-6E8A-4147-A177-3AD203B41FA5}">
                      <a16:colId xmlns:a16="http://schemas.microsoft.com/office/drawing/2014/main" val="4222371757"/>
                    </a:ext>
                  </a:extLst>
                </a:gridCol>
                <a:gridCol w="1231159">
                  <a:extLst>
                    <a:ext uri="{9D8B030D-6E8A-4147-A177-3AD203B41FA5}">
                      <a16:colId xmlns:a16="http://schemas.microsoft.com/office/drawing/2014/main" val="3850631119"/>
                    </a:ext>
                  </a:extLst>
                </a:gridCol>
                <a:gridCol w="1423528">
                  <a:extLst>
                    <a:ext uri="{9D8B030D-6E8A-4147-A177-3AD203B41FA5}">
                      <a16:colId xmlns:a16="http://schemas.microsoft.com/office/drawing/2014/main" val="2717373413"/>
                    </a:ext>
                  </a:extLst>
                </a:gridCol>
                <a:gridCol w="1231159">
                  <a:extLst>
                    <a:ext uri="{9D8B030D-6E8A-4147-A177-3AD203B41FA5}">
                      <a16:colId xmlns:a16="http://schemas.microsoft.com/office/drawing/2014/main" val="3269981541"/>
                    </a:ext>
                  </a:extLst>
                </a:gridCol>
                <a:gridCol w="1231159">
                  <a:extLst>
                    <a:ext uri="{9D8B030D-6E8A-4147-A177-3AD203B41FA5}">
                      <a16:colId xmlns:a16="http://schemas.microsoft.com/office/drawing/2014/main" val="4104050244"/>
                    </a:ext>
                  </a:extLst>
                </a:gridCol>
                <a:gridCol w="1231159">
                  <a:extLst>
                    <a:ext uri="{9D8B030D-6E8A-4147-A177-3AD203B41FA5}">
                      <a16:colId xmlns:a16="http://schemas.microsoft.com/office/drawing/2014/main" val="78342238"/>
                    </a:ext>
                  </a:extLst>
                </a:gridCol>
                <a:gridCol w="1423528">
                  <a:extLst>
                    <a:ext uri="{9D8B030D-6E8A-4147-A177-3AD203B41FA5}">
                      <a16:colId xmlns:a16="http://schemas.microsoft.com/office/drawing/2014/main" val="383022826"/>
                    </a:ext>
                  </a:extLst>
                </a:gridCol>
              </a:tblGrid>
              <a:tr h="40444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Level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BoTorch</a:t>
                      </a:r>
                      <a:endParaRPr lang="en-US" sz="2000" b="0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HGPR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428577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RRMSE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COVERAGE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RRMSE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COVERAGE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073531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6.7351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0.0408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158.0434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7.1052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0.0428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163.611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0561211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12.9674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0.074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211.0685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9.2301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211.6895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4945851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7.8141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0.1349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72.2378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10.8792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0.1599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201.6838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6854768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14.3607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0.0571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171.8013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8.7962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0.0355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207.3722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7422854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10.1064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0.1458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128.7969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9.539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0.1383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208.9551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586909"/>
                  </a:ext>
                </a:extLst>
              </a:tr>
              <a:tr h="4044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10.3967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0.0905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148.3896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0.0852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198.6623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245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8608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6431E-690D-9A33-E3FE-6F922ED0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B0F33CF-62F7-99AE-692C-AC178AE3A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Experiment 2 — 50 distributed samples (no replicates)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3B87BB-B35E-68FE-CD22-0BAB8B03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39"/>
          <a:stretch>
            <a:fillRect/>
          </a:stretch>
        </p:blipFill>
        <p:spPr>
          <a:xfrm>
            <a:off x="0" y="1041009"/>
            <a:ext cx="12192000" cy="43500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63CDB6-8020-82B0-A65E-A53EBF834830}"/>
              </a:ext>
            </a:extLst>
          </p:cNvPr>
          <p:cNvSpPr txBox="1"/>
          <p:nvPr/>
        </p:nvSpPr>
        <p:spPr>
          <a:xfrm>
            <a:off x="8267114" y="5752653"/>
            <a:ext cx="3924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Botorch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/>
                <a:ea typeface="+mn-ea"/>
                <a:cs typeface="+mn-cs"/>
              </a:rPr>
              <a:t> is not capable of modeling the noise in this case</a:t>
            </a:r>
          </a:p>
        </p:txBody>
      </p:sp>
    </p:spTree>
    <p:extLst>
      <p:ext uri="{BB962C8B-B14F-4D97-AF65-F5344CB8AC3E}">
        <p14:creationId xmlns:p14="http://schemas.microsoft.com/office/powerpoint/2010/main" val="26664787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391C4-58CE-3426-25C9-837F41368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4BBC95A-6388-0D12-72EB-BBB0609E9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Experiment 2 — distributed samples (no replicates)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EE9A714-202D-44FC-B536-0C1581B1E62E}"/>
              </a:ext>
            </a:extLst>
          </p:cNvPr>
          <p:cNvGraphicFramePr>
            <a:graphicFrameLocks noGrp="1"/>
          </p:cNvGraphicFramePr>
          <p:nvPr/>
        </p:nvGraphicFramePr>
        <p:xfrm>
          <a:off x="304801" y="1204685"/>
          <a:ext cx="11538856" cy="3367312"/>
        </p:xfrm>
        <a:graphic>
          <a:graphicData uri="http://schemas.openxmlformats.org/drawingml/2006/table">
            <a:tbl>
              <a:tblPr/>
              <a:tblGrid>
                <a:gridCol w="1070616">
                  <a:extLst>
                    <a:ext uri="{9D8B030D-6E8A-4147-A177-3AD203B41FA5}">
                      <a16:colId xmlns:a16="http://schemas.microsoft.com/office/drawing/2014/main" val="3930489095"/>
                    </a:ext>
                  </a:extLst>
                </a:gridCol>
                <a:gridCol w="1308530">
                  <a:extLst>
                    <a:ext uri="{9D8B030D-6E8A-4147-A177-3AD203B41FA5}">
                      <a16:colId xmlns:a16="http://schemas.microsoft.com/office/drawing/2014/main" val="3960716039"/>
                    </a:ext>
                  </a:extLst>
                </a:gridCol>
                <a:gridCol w="1308530">
                  <a:extLst>
                    <a:ext uri="{9D8B030D-6E8A-4147-A177-3AD203B41FA5}">
                      <a16:colId xmlns:a16="http://schemas.microsoft.com/office/drawing/2014/main" val="1988034766"/>
                    </a:ext>
                  </a:extLst>
                </a:gridCol>
                <a:gridCol w="1308530">
                  <a:extLst>
                    <a:ext uri="{9D8B030D-6E8A-4147-A177-3AD203B41FA5}">
                      <a16:colId xmlns:a16="http://schemas.microsoft.com/office/drawing/2014/main" val="2406950835"/>
                    </a:ext>
                  </a:extLst>
                </a:gridCol>
                <a:gridCol w="1308530">
                  <a:extLst>
                    <a:ext uri="{9D8B030D-6E8A-4147-A177-3AD203B41FA5}">
                      <a16:colId xmlns:a16="http://schemas.microsoft.com/office/drawing/2014/main" val="2203074925"/>
                    </a:ext>
                  </a:extLst>
                </a:gridCol>
                <a:gridCol w="1308530">
                  <a:extLst>
                    <a:ext uri="{9D8B030D-6E8A-4147-A177-3AD203B41FA5}">
                      <a16:colId xmlns:a16="http://schemas.microsoft.com/office/drawing/2014/main" val="1036481054"/>
                    </a:ext>
                  </a:extLst>
                </a:gridCol>
                <a:gridCol w="1308530">
                  <a:extLst>
                    <a:ext uri="{9D8B030D-6E8A-4147-A177-3AD203B41FA5}">
                      <a16:colId xmlns:a16="http://schemas.microsoft.com/office/drawing/2014/main" val="607191191"/>
                    </a:ext>
                  </a:extLst>
                </a:gridCol>
                <a:gridCol w="1308530">
                  <a:extLst>
                    <a:ext uri="{9D8B030D-6E8A-4147-A177-3AD203B41FA5}">
                      <a16:colId xmlns:a16="http://schemas.microsoft.com/office/drawing/2014/main" val="1490309207"/>
                    </a:ext>
                  </a:extLst>
                </a:gridCol>
                <a:gridCol w="1308530">
                  <a:extLst>
                    <a:ext uri="{9D8B030D-6E8A-4147-A177-3AD203B41FA5}">
                      <a16:colId xmlns:a16="http://schemas.microsoft.com/office/drawing/2014/main" val="3884026145"/>
                    </a:ext>
                  </a:extLst>
                </a:gridCol>
              </a:tblGrid>
              <a:tr h="4209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Level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BoTorch</a:t>
                      </a:r>
                      <a:endParaRPr lang="en-US" sz="2000" b="0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HGPR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67223"/>
                  </a:ext>
                </a:extLst>
              </a:tr>
              <a:tr h="420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RRMSE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COVERAGE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MAE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RRMSE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COVERAGE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8064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381410"/>
                  </a:ext>
                </a:extLst>
              </a:tr>
              <a:tr h="420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2.3911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0.0212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44.945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0.0209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18.0854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9598824"/>
                  </a:ext>
                </a:extLst>
              </a:tr>
              <a:tr h="420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3.3127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0.0398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66.1033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1.2823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0.0119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10.8903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2219054"/>
                  </a:ext>
                </a:extLst>
              </a:tr>
              <a:tr h="420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1.4807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0.0369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16.724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0.7736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0.0163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9.7981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6958952"/>
                  </a:ext>
                </a:extLst>
              </a:tr>
              <a:tr h="420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1.1924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23.025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0.0061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7.239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4961717"/>
                  </a:ext>
                </a:extLst>
              </a:tr>
              <a:tr h="420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2.2659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0.0447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26.9855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1.3962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0.0218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15.295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9675052"/>
                  </a:ext>
                </a:extLst>
              </a:tr>
              <a:tr h="42091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Mean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2.1285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0.0302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35.5566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1.3576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0.0154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12.2616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372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4996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4322-5687-5F5F-3934-B023FFAED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D5024-0A2C-94E9-D5FB-884F16678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EC0AE-782E-F53E-FD8C-954C4D2515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294AF64-FC92-4E4E-9E42-CF08351F977D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srgbClr val="2B166E"/>
                </a:solidFill>
                <a:effectLst/>
                <a:uLnTx/>
                <a:uFillTx/>
                <a:latin typeface="Roboto"/>
                <a:ea typeface="Roboto" panose="02000000000000000000" pitchFamily="2" charset="0"/>
                <a:cs typeface="+mn-cs"/>
              </a:rPr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2B166E"/>
                </a:solidFill>
                <a:effectLst/>
                <a:uLnTx/>
                <a:uFillTx/>
                <a:latin typeface="Roboto"/>
                <a:ea typeface="Roboto" panose="02000000000000000000" pitchFamily="2" charset="0"/>
                <a:cs typeface="+mn-cs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193E99-18B1-ABC8-3BC1-D11BDB4C4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" y="839755"/>
            <a:ext cx="10807700" cy="551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3581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5B6EE-3E41-0ECD-AE25-477CB1F15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55AAFD-1476-368C-3F1F-BDFA3CBE8F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294AF64-FC92-4E4E-9E42-CF08351F977D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srgbClr val="2B166E"/>
                </a:solidFill>
                <a:effectLst/>
                <a:uLnTx/>
                <a:uFillTx/>
                <a:latin typeface="Roboto"/>
                <a:ea typeface="Roboto" panose="02000000000000000000" pitchFamily="2" charset="0"/>
                <a:cs typeface="+mn-cs"/>
              </a:rPr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2B166E"/>
                </a:solidFill>
                <a:effectLst/>
                <a:uLnTx/>
                <a:uFillTx/>
                <a:latin typeface="Roboto"/>
                <a:ea typeface="Roboto" panose="02000000000000000000" pitchFamily="2" charset="0"/>
                <a:cs typeface="+mn-cs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358C27-3BD9-7393-858B-A9FB6ACB2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710" y="915150"/>
            <a:ext cx="9264580" cy="4727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563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6A852-EF6E-8D54-AE88-0EB22A9BC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68D93-2249-3087-091B-071DE4E4E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6880C-DC9C-BEAF-3376-174E720C31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294AF64-FC92-4E4E-9E42-CF08351F977D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srgbClr val="2B166E"/>
                </a:solidFill>
                <a:effectLst/>
                <a:uLnTx/>
                <a:uFillTx/>
                <a:latin typeface="Roboto"/>
                <a:ea typeface="Roboto" panose="02000000000000000000" pitchFamily="2" charset="0"/>
                <a:cs typeface="+mn-cs"/>
              </a:rPr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r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rgbClr val="2B166E"/>
                </a:solidFill>
                <a:effectLst/>
                <a:uLnTx/>
                <a:uFillTx/>
                <a:latin typeface="Roboto"/>
                <a:ea typeface="Roboto" panose="02000000000000000000" pitchFamily="2" charset="0"/>
                <a:cs typeface="+mn-cs"/>
              </a:rPr>
              <a:t>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40EDB3A-B8DD-4B05-F53C-9348C8FEB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73" y="978345"/>
            <a:ext cx="6825790" cy="475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6324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IDEAL_mod_NU_clean_roboto">
  <a:themeElements>
    <a:clrScheme name="NU Color Scheme">
      <a:dk1>
        <a:srgbClr val="342F2E"/>
      </a:dk1>
      <a:lt1>
        <a:sysClr val="window" lastClr="FFFFFF"/>
      </a:lt1>
      <a:dk2>
        <a:srgbClr val="4E2A84"/>
      </a:dk2>
      <a:lt2>
        <a:srgbClr val="D8D6D6"/>
      </a:lt2>
      <a:accent1>
        <a:srgbClr val="401F68"/>
      </a:accent1>
      <a:accent2>
        <a:srgbClr val="007FA4"/>
      </a:accent2>
      <a:accent3>
        <a:srgbClr val="0D2D6C"/>
      </a:accent3>
      <a:accent4>
        <a:srgbClr val="D9C826"/>
      </a:accent4>
      <a:accent5>
        <a:srgbClr val="CA7C1B"/>
      </a:accent5>
      <a:accent6>
        <a:srgbClr val="D85820"/>
      </a:accent6>
      <a:hlink>
        <a:srgbClr val="5091CD"/>
      </a:hlink>
      <a:folHlink>
        <a:srgbClr val="BBB8B8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ctr">
          <a:defRPr dirty="0" smtClean="0">
            <a:solidFill>
              <a:srgbClr val="000000"/>
            </a:solidFill>
          </a:defRPr>
        </a:defPPr>
      </a:lstStyle>
    </a:txDef>
  </a:objectDefaults>
  <a:extraClrSchemeLst>
    <a:extraClrScheme>
      <a:clrScheme name="sample 1">
        <a:dk1>
          <a:srgbClr val="2B166E"/>
        </a:dk1>
        <a:lt1>
          <a:srgbClr val="FFFFFF"/>
        </a:lt1>
        <a:dk2>
          <a:srgbClr val="336699"/>
        </a:dk2>
        <a:lt2>
          <a:srgbClr val="C0C0C0"/>
        </a:lt2>
        <a:accent1>
          <a:srgbClr val="458F8F"/>
        </a:accent1>
        <a:accent2>
          <a:srgbClr val="CCCC00"/>
        </a:accent2>
        <a:accent3>
          <a:srgbClr val="FFFFFF"/>
        </a:accent3>
        <a:accent4>
          <a:srgbClr val="23115D"/>
        </a:accent4>
        <a:accent5>
          <a:srgbClr val="B0C6C6"/>
        </a:accent5>
        <a:accent6>
          <a:srgbClr val="B9B900"/>
        </a:accent6>
        <a:hlink>
          <a:srgbClr val="9999FF"/>
        </a:hlink>
        <a:folHlink>
          <a:srgbClr val="6C9BB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ample 2">
        <a:dk1>
          <a:srgbClr val="1D528D"/>
        </a:dk1>
        <a:lt1>
          <a:srgbClr val="FFFFFF"/>
        </a:lt1>
        <a:dk2>
          <a:srgbClr val="000000"/>
        </a:dk2>
        <a:lt2>
          <a:srgbClr val="C0C0C0"/>
        </a:lt2>
        <a:accent1>
          <a:srgbClr val="2CA3C8"/>
        </a:accent1>
        <a:accent2>
          <a:srgbClr val="FF9900"/>
        </a:accent2>
        <a:accent3>
          <a:srgbClr val="FFFFFF"/>
        </a:accent3>
        <a:accent4>
          <a:srgbClr val="174578"/>
        </a:accent4>
        <a:accent5>
          <a:srgbClr val="ACCEE0"/>
        </a:accent5>
        <a:accent6>
          <a:srgbClr val="E78A00"/>
        </a:accent6>
        <a:hlink>
          <a:srgbClr val="9999FF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ample 3">
        <a:dk1>
          <a:srgbClr val="666633"/>
        </a:dk1>
        <a:lt1>
          <a:srgbClr val="FFFFFF"/>
        </a:lt1>
        <a:dk2>
          <a:srgbClr val="000000"/>
        </a:dk2>
        <a:lt2>
          <a:srgbClr val="D1C68D"/>
        </a:lt2>
        <a:accent1>
          <a:srgbClr val="C86C62"/>
        </a:accent1>
        <a:accent2>
          <a:srgbClr val="C78DD7"/>
        </a:accent2>
        <a:accent3>
          <a:srgbClr val="FFFFFF"/>
        </a:accent3>
        <a:accent4>
          <a:srgbClr val="56562A"/>
        </a:accent4>
        <a:accent5>
          <a:srgbClr val="E0BAB7"/>
        </a:accent5>
        <a:accent6>
          <a:srgbClr val="B47FC3"/>
        </a:accent6>
        <a:hlink>
          <a:srgbClr val="3197BB"/>
        </a:hlink>
        <a:folHlink>
          <a:srgbClr val="878FA5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IDEAL_mod_NU_clean_roboto" id="{AE54D982-76AC-4E23-BAA7-7F22DB2C625E}" vid="{89108F7E-29B9-442F-8FF3-44AC8BC57736}"/>
    </a:ext>
  </a:extLst>
</a:theme>
</file>

<file path=ppt/theme/theme3.xml><?xml version="1.0" encoding="utf-8"?>
<a:theme xmlns:a="http://schemas.openxmlformats.org/drawingml/2006/main" name="IDEAL_mod_NU_clean_roboto">
  <a:themeElements>
    <a:clrScheme name="NU Color Scheme">
      <a:dk1>
        <a:srgbClr val="342F2E"/>
      </a:dk1>
      <a:lt1>
        <a:sysClr val="window" lastClr="FFFFFF"/>
      </a:lt1>
      <a:dk2>
        <a:srgbClr val="4E2A84"/>
      </a:dk2>
      <a:lt2>
        <a:srgbClr val="D8D6D6"/>
      </a:lt2>
      <a:accent1>
        <a:srgbClr val="401F68"/>
      </a:accent1>
      <a:accent2>
        <a:srgbClr val="007FA4"/>
      </a:accent2>
      <a:accent3>
        <a:srgbClr val="0D2D6C"/>
      </a:accent3>
      <a:accent4>
        <a:srgbClr val="D9C826"/>
      </a:accent4>
      <a:accent5>
        <a:srgbClr val="CA7C1B"/>
      </a:accent5>
      <a:accent6>
        <a:srgbClr val="D85820"/>
      </a:accent6>
      <a:hlink>
        <a:srgbClr val="5091CD"/>
      </a:hlink>
      <a:folHlink>
        <a:srgbClr val="BBB8B8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ctr">
          <a:defRPr dirty="0" smtClean="0">
            <a:solidFill>
              <a:srgbClr val="000000"/>
            </a:solidFill>
          </a:defRPr>
        </a:defPPr>
      </a:lstStyle>
    </a:txDef>
  </a:objectDefaults>
  <a:extraClrSchemeLst>
    <a:extraClrScheme>
      <a:clrScheme name="sample 1">
        <a:dk1>
          <a:srgbClr val="2B166E"/>
        </a:dk1>
        <a:lt1>
          <a:srgbClr val="FFFFFF"/>
        </a:lt1>
        <a:dk2>
          <a:srgbClr val="336699"/>
        </a:dk2>
        <a:lt2>
          <a:srgbClr val="C0C0C0"/>
        </a:lt2>
        <a:accent1>
          <a:srgbClr val="458F8F"/>
        </a:accent1>
        <a:accent2>
          <a:srgbClr val="CCCC00"/>
        </a:accent2>
        <a:accent3>
          <a:srgbClr val="FFFFFF"/>
        </a:accent3>
        <a:accent4>
          <a:srgbClr val="23115D"/>
        </a:accent4>
        <a:accent5>
          <a:srgbClr val="B0C6C6"/>
        </a:accent5>
        <a:accent6>
          <a:srgbClr val="B9B900"/>
        </a:accent6>
        <a:hlink>
          <a:srgbClr val="9999FF"/>
        </a:hlink>
        <a:folHlink>
          <a:srgbClr val="6C9BB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ample 2">
        <a:dk1>
          <a:srgbClr val="1D528D"/>
        </a:dk1>
        <a:lt1>
          <a:srgbClr val="FFFFFF"/>
        </a:lt1>
        <a:dk2>
          <a:srgbClr val="000000"/>
        </a:dk2>
        <a:lt2>
          <a:srgbClr val="C0C0C0"/>
        </a:lt2>
        <a:accent1>
          <a:srgbClr val="2CA3C8"/>
        </a:accent1>
        <a:accent2>
          <a:srgbClr val="FF9900"/>
        </a:accent2>
        <a:accent3>
          <a:srgbClr val="FFFFFF"/>
        </a:accent3>
        <a:accent4>
          <a:srgbClr val="174578"/>
        </a:accent4>
        <a:accent5>
          <a:srgbClr val="ACCEE0"/>
        </a:accent5>
        <a:accent6>
          <a:srgbClr val="E78A00"/>
        </a:accent6>
        <a:hlink>
          <a:srgbClr val="9999FF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ample 3">
        <a:dk1>
          <a:srgbClr val="666633"/>
        </a:dk1>
        <a:lt1>
          <a:srgbClr val="FFFFFF"/>
        </a:lt1>
        <a:dk2>
          <a:srgbClr val="000000"/>
        </a:dk2>
        <a:lt2>
          <a:srgbClr val="D1C68D"/>
        </a:lt2>
        <a:accent1>
          <a:srgbClr val="C86C62"/>
        </a:accent1>
        <a:accent2>
          <a:srgbClr val="C78DD7"/>
        </a:accent2>
        <a:accent3>
          <a:srgbClr val="FFFFFF"/>
        </a:accent3>
        <a:accent4>
          <a:srgbClr val="56562A"/>
        </a:accent4>
        <a:accent5>
          <a:srgbClr val="E0BAB7"/>
        </a:accent5>
        <a:accent6>
          <a:srgbClr val="B47FC3"/>
        </a:accent6>
        <a:hlink>
          <a:srgbClr val="3197BB"/>
        </a:hlink>
        <a:folHlink>
          <a:srgbClr val="878FA5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IDEAL_mod_NU_clean_roboto" id="{AE54D982-76AC-4E23-BAA7-7F22DB2C625E}" vid="{89108F7E-29B9-442F-8FF3-44AC8BC57736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1168</Words>
  <Application>Microsoft Office PowerPoint</Application>
  <PresentationFormat>Widescreen</PresentationFormat>
  <Paragraphs>400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30" baseType="lpstr">
      <vt:lpstr>DengXian</vt:lpstr>
      <vt:lpstr>-apple-system</vt:lpstr>
      <vt:lpstr>Aptos</vt:lpstr>
      <vt:lpstr>Aptos Display</vt:lpstr>
      <vt:lpstr>Arial</vt:lpstr>
      <vt:lpstr>Calibri</vt:lpstr>
      <vt:lpstr>Cambria</vt:lpstr>
      <vt:lpstr>Cambria Math</vt:lpstr>
      <vt:lpstr>Roboto</vt:lpstr>
      <vt:lpstr>Verdana</vt:lpstr>
      <vt:lpstr>Wingdings</vt:lpstr>
      <vt:lpstr>Office Theme</vt:lpstr>
      <vt:lpstr>1_IDEAL_mod_NU_clean_roboto</vt:lpstr>
      <vt:lpstr>IDEAL_mod_NU_clean_roboto</vt:lpstr>
      <vt:lpstr>06/17/2026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Implementation</vt:lpstr>
      <vt:lpstr>Test function and heteroscedastic noise model</vt:lpstr>
      <vt:lpstr>Experiment 1 - replicated samples (5 sites x 10 reps per level)</vt:lpstr>
      <vt:lpstr>Experiment 1 - replicated samples (5 sites x 10 reps per level)</vt:lpstr>
      <vt:lpstr>Experiment 2 — 50 distributed samples (no replicates)</vt:lpstr>
      <vt:lpstr>Experiment 2 — distributed samples (no replicates)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Fernandez</dc:creator>
  <cp:lastModifiedBy>Christian Fernandez</cp:lastModifiedBy>
  <cp:revision>1</cp:revision>
  <dcterms:created xsi:type="dcterms:W3CDTF">2026-06-26T16:58:13Z</dcterms:created>
  <dcterms:modified xsi:type="dcterms:W3CDTF">2026-06-26T16:59:31Z</dcterms:modified>
</cp:coreProperties>
</file>